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6" r:id="rId6"/>
    <p:sldId id="262" r:id="rId7"/>
    <p:sldId id="263" r:id="rId8"/>
    <p:sldId id="264" r:id="rId9"/>
    <p:sldId id="265" r:id="rId10"/>
    <p:sldId id="267" r:id="rId11"/>
    <p:sldId id="260" r:id="rId12"/>
    <p:sldId id="273" r:id="rId13"/>
    <p:sldId id="270" r:id="rId14"/>
    <p:sldId id="271" r:id="rId15"/>
    <p:sldId id="261" r:id="rId16"/>
    <p:sldId id="268"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0B5A23-D886-4A3B-9C58-A17A10D72D59}" v="6" dt="2025-11-23T08:02:18.8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325" autoAdjust="0"/>
  </p:normalViewPr>
  <p:slideViewPr>
    <p:cSldViewPr snapToGrid="0">
      <p:cViewPr varScale="1">
        <p:scale>
          <a:sx n="46" d="100"/>
          <a:sy n="46" d="100"/>
        </p:scale>
        <p:origin x="1444"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et Okungbowa" userId="e53dc68c7cfe4d77" providerId="LiveId" clId="{6D5FBA0A-2E72-4ABD-BEDF-8C4AB27A3464}"/>
    <pc:docChg chg="undo custSel addSld delSld modSld">
      <pc:chgData name="Margaret Okungbowa" userId="e53dc68c7cfe4d77" providerId="LiveId" clId="{6D5FBA0A-2E72-4ABD-BEDF-8C4AB27A3464}" dt="2025-11-23T08:02:40.868" v="285" actId="20577"/>
      <pc:docMkLst>
        <pc:docMk/>
      </pc:docMkLst>
      <pc:sldChg chg="modSp mod">
        <pc:chgData name="Margaret Okungbowa" userId="e53dc68c7cfe4d77" providerId="LiveId" clId="{6D5FBA0A-2E72-4ABD-BEDF-8C4AB27A3464}" dt="2025-11-23T08:02:40.868" v="285" actId="20577"/>
        <pc:sldMkLst>
          <pc:docMk/>
          <pc:sldMk cId="3166906167" sldId="256"/>
        </pc:sldMkLst>
        <pc:spChg chg="mod">
          <ac:chgData name="Margaret Okungbowa" userId="e53dc68c7cfe4d77" providerId="LiveId" clId="{6D5FBA0A-2E72-4ABD-BEDF-8C4AB27A3464}" dt="2025-11-23T08:01:58.365" v="243" actId="20577"/>
          <ac:spMkLst>
            <pc:docMk/>
            <pc:sldMk cId="3166906167" sldId="256"/>
            <ac:spMk id="2" creationId="{A42E226C-2CDE-A834-8ADA-5B6EDCC21BFD}"/>
          </ac:spMkLst>
        </pc:spChg>
        <pc:spChg chg="mod">
          <ac:chgData name="Margaret Okungbowa" userId="e53dc68c7cfe4d77" providerId="LiveId" clId="{6D5FBA0A-2E72-4ABD-BEDF-8C4AB27A3464}" dt="2025-11-23T08:02:40.868" v="285" actId="20577"/>
          <ac:spMkLst>
            <pc:docMk/>
            <pc:sldMk cId="3166906167" sldId="256"/>
            <ac:spMk id="3" creationId="{25A36D21-585F-ADCA-0BBD-E32B8AC4319E}"/>
          </ac:spMkLst>
        </pc:spChg>
      </pc:sldChg>
      <pc:sldChg chg="modSp mod">
        <pc:chgData name="Margaret Okungbowa" userId="e53dc68c7cfe4d77" providerId="LiveId" clId="{6D5FBA0A-2E72-4ABD-BEDF-8C4AB27A3464}" dt="2025-11-21T09:15:51.007" v="95" actId="5793"/>
        <pc:sldMkLst>
          <pc:docMk/>
          <pc:sldMk cId="575567675" sldId="258"/>
        </pc:sldMkLst>
        <pc:spChg chg="mod">
          <ac:chgData name="Margaret Okungbowa" userId="e53dc68c7cfe4d77" providerId="LiveId" clId="{6D5FBA0A-2E72-4ABD-BEDF-8C4AB27A3464}" dt="2025-11-21T09:15:51.007" v="95" actId="5793"/>
          <ac:spMkLst>
            <pc:docMk/>
            <pc:sldMk cId="575567675" sldId="258"/>
            <ac:spMk id="3" creationId="{B25BFE17-B150-5E21-E779-751AC2E14EC8}"/>
          </ac:spMkLst>
        </pc:spChg>
      </pc:sldChg>
      <pc:sldChg chg="modSp mod">
        <pc:chgData name="Margaret Okungbowa" userId="e53dc68c7cfe4d77" providerId="LiveId" clId="{6D5FBA0A-2E72-4ABD-BEDF-8C4AB27A3464}" dt="2025-11-22T17:45:18.603" v="177" actId="20577"/>
        <pc:sldMkLst>
          <pc:docMk/>
          <pc:sldMk cId="2583130415" sldId="259"/>
        </pc:sldMkLst>
        <pc:spChg chg="mod">
          <ac:chgData name="Margaret Okungbowa" userId="e53dc68c7cfe4d77" providerId="LiveId" clId="{6D5FBA0A-2E72-4ABD-BEDF-8C4AB27A3464}" dt="2025-11-22T17:45:18.603" v="177" actId="20577"/>
          <ac:spMkLst>
            <pc:docMk/>
            <pc:sldMk cId="2583130415" sldId="259"/>
            <ac:spMk id="11" creationId="{B82C2C14-EF2B-203A-F3C1-C974284F62D1}"/>
          </ac:spMkLst>
        </pc:spChg>
      </pc:sldChg>
      <pc:sldChg chg="modSp mod">
        <pc:chgData name="Margaret Okungbowa" userId="e53dc68c7cfe4d77" providerId="LiveId" clId="{6D5FBA0A-2E72-4ABD-BEDF-8C4AB27A3464}" dt="2025-11-22T17:50:14.510" v="192" actId="20577"/>
        <pc:sldMkLst>
          <pc:docMk/>
          <pc:sldMk cId="3129093696" sldId="263"/>
        </pc:sldMkLst>
        <pc:spChg chg="mod">
          <ac:chgData name="Margaret Okungbowa" userId="e53dc68c7cfe4d77" providerId="LiveId" clId="{6D5FBA0A-2E72-4ABD-BEDF-8C4AB27A3464}" dt="2025-11-22T17:50:14.510" v="192" actId="20577"/>
          <ac:spMkLst>
            <pc:docMk/>
            <pc:sldMk cId="3129093696" sldId="263"/>
            <ac:spMk id="7" creationId="{BAA3BC8D-57F6-3D14-18A0-F3E289FF6233}"/>
          </ac:spMkLst>
        </pc:spChg>
      </pc:sldChg>
      <pc:sldChg chg="modSp mod">
        <pc:chgData name="Margaret Okungbowa" userId="e53dc68c7cfe4d77" providerId="LiveId" clId="{6D5FBA0A-2E72-4ABD-BEDF-8C4AB27A3464}" dt="2025-11-21T09:16:09.492" v="96" actId="5793"/>
        <pc:sldMkLst>
          <pc:docMk/>
          <pc:sldMk cId="402750951" sldId="267"/>
        </pc:sldMkLst>
        <pc:spChg chg="mod">
          <ac:chgData name="Margaret Okungbowa" userId="e53dc68c7cfe4d77" providerId="LiveId" clId="{6D5FBA0A-2E72-4ABD-BEDF-8C4AB27A3464}" dt="2025-11-21T09:16:09.492" v="96" actId="5793"/>
          <ac:spMkLst>
            <pc:docMk/>
            <pc:sldMk cId="402750951" sldId="267"/>
            <ac:spMk id="10" creationId="{7EEBF9CA-4435-4AF2-713F-E35E349A8008}"/>
          </ac:spMkLst>
        </pc:spChg>
      </pc:sldChg>
      <pc:sldChg chg="addSp delSp modSp del mod setBg">
        <pc:chgData name="Margaret Okungbowa" userId="e53dc68c7cfe4d77" providerId="LiveId" clId="{6D5FBA0A-2E72-4ABD-BEDF-8C4AB27A3464}" dt="2025-11-23T08:00:59.660" v="197" actId="2696"/>
        <pc:sldMkLst>
          <pc:docMk/>
          <pc:sldMk cId="3933619163" sldId="269"/>
        </pc:sldMkLst>
        <pc:graphicFrameChg chg="add mod">
          <ac:chgData name="Margaret Okungbowa" userId="e53dc68c7cfe4d77" providerId="LiveId" clId="{6D5FBA0A-2E72-4ABD-BEDF-8C4AB27A3464}" dt="2025-11-22T17:41:09.690" v="133" actId="1035"/>
          <ac:graphicFrameMkLst>
            <pc:docMk/>
            <pc:sldMk cId="3933619163" sldId="269"/>
            <ac:graphicFrameMk id="23" creationId="{72B30317-B3D1-8909-C56B-99BDEB982FE1}"/>
          </ac:graphicFrameMkLst>
        </pc:graphicFrameChg>
      </pc:sldChg>
      <pc:sldChg chg="addSp modSp new mod setBg">
        <pc:chgData name="Margaret Okungbowa" userId="e53dc68c7cfe4d77" providerId="LiveId" clId="{6D5FBA0A-2E72-4ABD-BEDF-8C4AB27A3464}" dt="2025-11-21T11:49:29.559" v="101" actId="26606"/>
        <pc:sldMkLst>
          <pc:docMk/>
          <pc:sldMk cId="3096737831" sldId="270"/>
        </pc:sldMkLst>
        <pc:spChg chg="add">
          <ac:chgData name="Margaret Okungbowa" userId="e53dc68c7cfe4d77" providerId="LiveId" clId="{6D5FBA0A-2E72-4ABD-BEDF-8C4AB27A3464}" dt="2025-11-21T11:49:29.559" v="101" actId="26606"/>
          <ac:spMkLst>
            <pc:docMk/>
            <pc:sldMk cId="3096737831" sldId="270"/>
            <ac:spMk id="8" creationId="{AB8C311F-7253-4AED-9701-7FC0708C41C7}"/>
          </ac:spMkLst>
        </pc:spChg>
        <pc:spChg chg="add">
          <ac:chgData name="Margaret Okungbowa" userId="e53dc68c7cfe4d77" providerId="LiveId" clId="{6D5FBA0A-2E72-4ABD-BEDF-8C4AB27A3464}" dt="2025-11-21T11:49:29.559" v="101" actId="26606"/>
          <ac:spMkLst>
            <pc:docMk/>
            <pc:sldMk cId="3096737831" sldId="270"/>
            <ac:spMk id="10" creationId="{E2384209-CB15-4CDF-9D31-C44FD9A3F20D}"/>
          </ac:spMkLst>
        </pc:spChg>
        <pc:spChg chg="add">
          <ac:chgData name="Margaret Okungbowa" userId="e53dc68c7cfe4d77" providerId="LiveId" clId="{6D5FBA0A-2E72-4ABD-BEDF-8C4AB27A3464}" dt="2025-11-21T11:49:29.559" v="101" actId="26606"/>
          <ac:spMkLst>
            <pc:docMk/>
            <pc:sldMk cId="3096737831" sldId="270"/>
            <ac:spMk id="12" creationId="{2633B3B5-CC90-43F0-8714-D31D1F3F0209}"/>
          </ac:spMkLst>
        </pc:spChg>
        <pc:spChg chg="add">
          <ac:chgData name="Margaret Okungbowa" userId="e53dc68c7cfe4d77" providerId="LiveId" clId="{6D5FBA0A-2E72-4ABD-BEDF-8C4AB27A3464}" dt="2025-11-21T11:49:29.559" v="101" actId="26606"/>
          <ac:spMkLst>
            <pc:docMk/>
            <pc:sldMk cId="3096737831" sldId="270"/>
            <ac:spMk id="14" creationId="{A8D57A06-A426-446D-B02C-A2DC6B62E45E}"/>
          </ac:spMkLst>
        </pc:spChg>
        <pc:picChg chg="add mod">
          <ac:chgData name="Margaret Okungbowa" userId="e53dc68c7cfe4d77" providerId="LiveId" clId="{6D5FBA0A-2E72-4ABD-BEDF-8C4AB27A3464}" dt="2025-11-21T11:49:29.559" v="101" actId="26606"/>
          <ac:picMkLst>
            <pc:docMk/>
            <pc:sldMk cId="3096737831" sldId="270"/>
            <ac:picMk id="3" creationId="{09D6FE35-54AE-138C-1D42-F2B603811FC4}"/>
          </ac:picMkLst>
        </pc:picChg>
      </pc:sldChg>
      <pc:sldChg chg="addSp delSp modSp new mod setBg">
        <pc:chgData name="Margaret Okungbowa" userId="e53dc68c7cfe4d77" providerId="LiveId" clId="{6D5FBA0A-2E72-4ABD-BEDF-8C4AB27A3464}" dt="2025-11-21T11:50:30.289" v="112" actId="26606"/>
        <pc:sldMkLst>
          <pc:docMk/>
          <pc:sldMk cId="1889957238" sldId="271"/>
        </pc:sldMkLst>
        <pc:spChg chg="add">
          <ac:chgData name="Margaret Okungbowa" userId="e53dc68c7cfe4d77" providerId="LiveId" clId="{6D5FBA0A-2E72-4ABD-BEDF-8C4AB27A3464}" dt="2025-11-21T11:50:30.289" v="112" actId="26606"/>
          <ac:spMkLst>
            <pc:docMk/>
            <pc:sldMk cId="1889957238" sldId="271"/>
            <ac:spMk id="19" creationId="{AB8C311F-7253-4AED-9701-7FC0708C41C7}"/>
          </ac:spMkLst>
        </pc:spChg>
        <pc:spChg chg="add">
          <ac:chgData name="Margaret Okungbowa" userId="e53dc68c7cfe4d77" providerId="LiveId" clId="{6D5FBA0A-2E72-4ABD-BEDF-8C4AB27A3464}" dt="2025-11-21T11:50:30.289" v="112" actId="26606"/>
          <ac:spMkLst>
            <pc:docMk/>
            <pc:sldMk cId="1889957238" sldId="271"/>
            <ac:spMk id="20" creationId="{E2384209-CB15-4CDF-9D31-C44FD9A3F20D}"/>
          </ac:spMkLst>
        </pc:spChg>
        <pc:spChg chg="add">
          <ac:chgData name="Margaret Okungbowa" userId="e53dc68c7cfe4d77" providerId="LiveId" clId="{6D5FBA0A-2E72-4ABD-BEDF-8C4AB27A3464}" dt="2025-11-21T11:50:30.289" v="112" actId="26606"/>
          <ac:spMkLst>
            <pc:docMk/>
            <pc:sldMk cId="1889957238" sldId="271"/>
            <ac:spMk id="21" creationId="{2633B3B5-CC90-43F0-8714-D31D1F3F0209}"/>
          </ac:spMkLst>
        </pc:spChg>
        <pc:spChg chg="add">
          <ac:chgData name="Margaret Okungbowa" userId="e53dc68c7cfe4d77" providerId="LiveId" clId="{6D5FBA0A-2E72-4ABD-BEDF-8C4AB27A3464}" dt="2025-11-21T11:50:30.289" v="112" actId="26606"/>
          <ac:spMkLst>
            <pc:docMk/>
            <pc:sldMk cId="1889957238" sldId="271"/>
            <ac:spMk id="22" creationId="{A8D57A06-A426-446D-B02C-A2DC6B62E45E}"/>
          </ac:spMkLst>
        </pc:spChg>
        <pc:picChg chg="add mod">
          <ac:chgData name="Margaret Okungbowa" userId="e53dc68c7cfe4d77" providerId="LiveId" clId="{6D5FBA0A-2E72-4ABD-BEDF-8C4AB27A3464}" dt="2025-11-21T11:50:30.289" v="112" actId="26606"/>
          <ac:picMkLst>
            <pc:docMk/>
            <pc:sldMk cId="1889957238" sldId="271"/>
            <ac:picMk id="3" creationId="{EEC1E976-AFA4-270A-7209-619D0578480C}"/>
          </ac:picMkLst>
        </pc:picChg>
      </pc:sldChg>
      <pc:sldChg chg="addSp modSp new mod setBg">
        <pc:chgData name="Margaret Okungbowa" userId="e53dc68c7cfe4d77" providerId="LiveId" clId="{6D5FBA0A-2E72-4ABD-BEDF-8C4AB27A3464}" dt="2025-11-22T17:40:19.105" v="131" actId="26606"/>
        <pc:sldMkLst>
          <pc:docMk/>
          <pc:sldMk cId="268993332" sldId="272"/>
        </pc:sldMkLst>
        <pc:spChg chg="add mod">
          <ac:chgData name="Margaret Okungbowa" userId="e53dc68c7cfe4d77" providerId="LiveId" clId="{6D5FBA0A-2E72-4ABD-BEDF-8C4AB27A3464}" dt="2025-11-22T17:40:19.105" v="131" actId="26606"/>
          <ac:spMkLst>
            <pc:docMk/>
            <pc:sldMk cId="268993332" sldId="272"/>
            <ac:spMk id="3" creationId="{961621B9-C73E-1068-0E5B-3F84F2E10889}"/>
          </ac:spMkLst>
        </pc:spChg>
        <pc:spChg chg="add">
          <ac:chgData name="Margaret Okungbowa" userId="e53dc68c7cfe4d77" providerId="LiveId" clId="{6D5FBA0A-2E72-4ABD-BEDF-8C4AB27A3464}" dt="2025-11-22T17:40:19.105" v="131" actId="26606"/>
          <ac:spMkLst>
            <pc:docMk/>
            <pc:sldMk cId="268993332" sldId="272"/>
            <ac:spMk id="8" creationId="{577D6B2E-37A3-429E-A37C-F30ED6487282}"/>
          </ac:spMkLst>
        </pc:spChg>
        <pc:spChg chg="add">
          <ac:chgData name="Margaret Okungbowa" userId="e53dc68c7cfe4d77" providerId="LiveId" clId="{6D5FBA0A-2E72-4ABD-BEDF-8C4AB27A3464}" dt="2025-11-22T17:40:19.105" v="131" actId="26606"/>
          <ac:spMkLst>
            <pc:docMk/>
            <pc:sldMk cId="268993332" sldId="272"/>
            <ac:spMk id="10" creationId="{5CEAD642-85CF-4750-8432-7C80C901F001}"/>
          </ac:spMkLst>
        </pc:spChg>
        <pc:spChg chg="add">
          <ac:chgData name="Margaret Okungbowa" userId="e53dc68c7cfe4d77" providerId="LiveId" clId="{6D5FBA0A-2E72-4ABD-BEDF-8C4AB27A3464}" dt="2025-11-22T17:40:19.105" v="131" actId="26606"/>
          <ac:spMkLst>
            <pc:docMk/>
            <pc:sldMk cId="268993332" sldId="272"/>
            <ac:spMk id="12" creationId="{FA33EEAE-15D5-4119-8C1E-89D943F911EF}"/>
          </ac:spMkLst>
        </pc:spChg>
        <pc:spChg chg="add">
          <ac:chgData name="Margaret Okungbowa" userId="e53dc68c7cfe4d77" providerId="LiveId" clId="{6D5FBA0A-2E72-4ABD-BEDF-8C4AB27A3464}" dt="2025-11-22T17:40:19.105" v="131" actId="26606"/>
          <ac:spMkLst>
            <pc:docMk/>
            <pc:sldMk cId="268993332" sldId="272"/>
            <ac:spMk id="14" creationId="{730D8B3B-9B80-4025-B934-26DC7D7CD231}"/>
          </ac:spMkLst>
        </pc:spChg>
        <pc:spChg chg="add">
          <ac:chgData name="Margaret Okungbowa" userId="e53dc68c7cfe4d77" providerId="LiveId" clId="{6D5FBA0A-2E72-4ABD-BEDF-8C4AB27A3464}" dt="2025-11-22T17:40:19.105" v="131" actId="26606"/>
          <ac:spMkLst>
            <pc:docMk/>
            <pc:sldMk cId="268993332" sldId="272"/>
            <ac:spMk id="16" creationId="{1064D5D5-227B-4F66-9AEA-46F570E793BD}"/>
          </ac:spMkLst>
        </pc:spChg>
        <pc:spChg chg="add">
          <ac:chgData name="Margaret Okungbowa" userId="e53dc68c7cfe4d77" providerId="LiveId" clId="{6D5FBA0A-2E72-4ABD-BEDF-8C4AB27A3464}" dt="2025-11-22T17:40:19.105" v="131" actId="26606"/>
          <ac:spMkLst>
            <pc:docMk/>
            <pc:sldMk cId="268993332" sldId="272"/>
            <ac:spMk id="18" creationId="{646B67A4-D328-4747-A82B-65E84FA46368}"/>
          </ac:spMkLst>
        </pc:spChg>
        <pc:spChg chg="add">
          <ac:chgData name="Margaret Okungbowa" userId="e53dc68c7cfe4d77" providerId="LiveId" clId="{6D5FBA0A-2E72-4ABD-BEDF-8C4AB27A3464}" dt="2025-11-22T17:40:19.105" v="131" actId="26606"/>
          <ac:spMkLst>
            <pc:docMk/>
            <pc:sldMk cId="268993332" sldId="272"/>
            <ac:spMk id="20" creationId="{B5A1B09C-1565-46F8-B70F-621C5EB48A09}"/>
          </ac:spMkLst>
        </pc:spChg>
        <pc:spChg chg="add">
          <ac:chgData name="Margaret Okungbowa" userId="e53dc68c7cfe4d77" providerId="LiveId" clId="{6D5FBA0A-2E72-4ABD-BEDF-8C4AB27A3464}" dt="2025-11-22T17:40:19.105" v="131" actId="26606"/>
          <ac:spMkLst>
            <pc:docMk/>
            <pc:sldMk cId="268993332" sldId="272"/>
            <ac:spMk id="22" creationId="{8C516CC8-80AC-446C-A56E-9F54B7210402}"/>
          </ac:spMkLst>
        </pc:spChg>
      </pc:sldChg>
      <pc:sldChg chg="addSp modSp new mod">
        <pc:chgData name="Margaret Okungbowa" userId="e53dc68c7cfe4d77" providerId="LiveId" clId="{6D5FBA0A-2E72-4ABD-BEDF-8C4AB27A3464}" dt="2025-11-22T17:58:24.314" v="196" actId="14100"/>
        <pc:sldMkLst>
          <pc:docMk/>
          <pc:sldMk cId="2876444319" sldId="273"/>
        </pc:sldMkLst>
        <pc:picChg chg="add mod">
          <ac:chgData name="Margaret Okungbowa" userId="e53dc68c7cfe4d77" providerId="LiveId" clId="{6D5FBA0A-2E72-4ABD-BEDF-8C4AB27A3464}" dt="2025-11-22T17:58:24.314" v="196" actId="14100"/>
          <ac:picMkLst>
            <pc:docMk/>
            <pc:sldMk cId="2876444319" sldId="273"/>
            <ac:picMk id="3" creationId="{57E58DC3-CDD4-2434-80F5-BE2BC8511807}"/>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E5FBC82-255E-4578-B02F-F4D5B6420369}" type="doc">
      <dgm:prSet loTypeId="urn:microsoft.com/office/officeart/2005/8/layout/list1" loCatId="list" qsTypeId="urn:microsoft.com/office/officeart/2005/8/quickstyle/simple4" qsCatId="simple" csTypeId="urn:microsoft.com/office/officeart/2005/8/colors/accent1_2" csCatId="accent1"/>
      <dgm:spPr/>
      <dgm:t>
        <a:bodyPr/>
        <a:lstStyle/>
        <a:p>
          <a:endParaRPr lang="en-US"/>
        </a:p>
      </dgm:t>
    </dgm:pt>
    <dgm:pt modelId="{32672E4D-4051-4E1F-9446-FBD16C4467DE}">
      <dgm:prSet/>
      <dgm:spPr/>
      <dgm:t>
        <a:bodyPr/>
        <a:lstStyle/>
        <a:p>
          <a:r>
            <a:rPr lang="en-GB" b="1"/>
            <a:t>Dataset Overview</a:t>
          </a:r>
          <a:endParaRPr lang="en-US"/>
        </a:p>
      </dgm:t>
    </dgm:pt>
    <dgm:pt modelId="{A10574E7-9AC6-400F-99B3-DEF74E2AFBD7}" type="parTrans" cxnId="{FBEA9DBA-8A65-407C-8601-3440F5B81532}">
      <dgm:prSet/>
      <dgm:spPr/>
      <dgm:t>
        <a:bodyPr/>
        <a:lstStyle/>
        <a:p>
          <a:endParaRPr lang="en-US"/>
        </a:p>
      </dgm:t>
    </dgm:pt>
    <dgm:pt modelId="{B10AF166-9674-4818-938B-79E57966DD5F}" type="sibTrans" cxnId="{FBEA9DBA-8A65-407C-8601-3440F5B81532}">
      <dgm:prSet/>
      <dgm:spPr/>
      <dgm:t>
        <a:bodyPr/>
        <a:lstStyle/>
        <a:p>
          <a:endParaRPr lang="en-US"/>
        </a:p>
      </dgm:t>
    </dgm:pt>
    <dgm:pt modelId="{74114C4D-9CD3-4F96-BCDD-76B0CE79092D}">
      <dgm:prSet/>
      <dgm:spPr/>
      <dgm:t>
        <a:bodyPr/>
        <a:lstStyle/>
        <a:p>
          <a:r>
            <a:rPr lang="en-GB" b="1"/>
            <a:t>Total Records:</a:t>
          </a:r>
          <a:r>
            <a:rPr lang="en-GB"/>
            <a:t> Approximately 18,200 Rows</a:t>
          </a:r>
          <a:endParaRPr lang="en-US"/>
        </a:p>
      </dgm:t>
    </dgm:pt>
    <dgm:pt modelId="{F64AD267-1168-4FAA-86D6-FC68AB76C445}" type="parTrans" cxnId="{20926F38-AB26-46C9-BBE3-4EABDF6F405A}">
      <dgm:prSet/>
      <dgm:spPr/>
      <dgm:t>
        <a:bodyPr/>
        <a:lstStyle/>
        <a:p>
          <a:endParaRPr lang="en-US"/>
        </a:p>
      </dgm:t>
    </dgm:pt>
    <dgm:pt modelId="{1718A8E7-FF85-4A67-A86F-A93F1B58CC03}" type="sibTrans" cxnId="{20926F38-AB26-46C9-BBE3-4EABDF6F405A}">
      <dgm:prSet/>
      <dgm:spPr/>
      <dgm:t>
        <a:bodyPr/>
        <a:lstStyle/>
        <a:p>
          <a:endParaRPr lang="en-US"/>
        </a:p>
      </dgm:t>
    </dgm:pt>
    <dgm:pt modelId="{A332EB36-46B7-46BC-9CA4-127D3B7C5AF5}">
      <dgm:prSet/>
      <dgm:spPr/>
      <dgm:t>
        <a:bodyPr/>
        <a:lstStyle/>
        <a:p>
          <a:r>
            <a:rPr lang="en-GB" b="1"/>
            <a:t>Features (Columns):</a:t>
          </a:r>
          <a:r>
            <a:rPr lang="en-GB"/>
            <a:t> Over </a:t>
          </a:r>
          <a:r>
            <a:rPr lang="en-GB" b="1"/>
            <a:t>25+ attributes</a:t>
          </a:r>
          <a:r>
            <a:rPr lang="en-GB"/>
            <a:t>, including</a:t>
          </a:r>
          <a:endParaRPr lang="en-US"/>
        </a:p>
      </dgm:t>
    </dgm:pt>
    <dgm:pt modelId="{19A67B35-A889-432C-9260-E7EAC9757CB1}" type="parTrans" cxnId="{5BB58440-8CD9-453C-A052-E9F2AB61CA47}">
      <dgm:prSet/>
      <dgm:spPr/>
      <dgm:t>
        <a:bodyPr/>
        <a:lstStyle/>
        <a:p>
          <a:endParaRPr lang="en-US"/>
        </a:p>
      </dgm:t>
    </dgm:pt>
    <dgm:pt modelId="{158EC41E-4EED-4A50-8BF1-11E62C290D64}" type="sibTrans" cxnId="{5BB58440-8CD9-453C-A052-E9F2AB61CA47}">
      <dgm:prSet/>
      <dgm:spPr/>
      <dgm:t>
        <a:bodyPr/>
        <a:lstStyle/>
        <a:p>
          <a:endParaRPr lang="en-US"/>
        </a:p>
      </dgm:t>
    </dgm:pt>
    <dgm:pt modelId="{1CB001D7-A914-467F-AF82-FCD8B98978BD}">
      <dgm:prSet/>
      <dgm:spPr/>
      <dgm:t>
        <a:bodyPr/>
        <a:lstStyle/>
        <a:p>
          <a:r>
            <a:rPr lang="en-GB"/>
            <a:t>Passing skills (dribbling, passing, finishing, vision, etc.)</a:t>
          </a:r>
          <a:endParaRPr lang="en-US"/>
        </a:p>
      </dgm:t>
    </dgm:pt>
    <dgm:pt modelId="{6AB7F1CF-61B4-4944-AA50-802239C5060A}" type="parTrans" cxnId="{7EACE888-E47C-4E9C-9D32-E655B63E9973}">
      <dgm:prSet/>
      <dgm:spPr/>
      <dgm:t>
        <a:bodyPr/>
        <a:lstStyle/>
        <a:p>
          <a:endParaRPr lang="en-US"/>
        </a:p>
      </dgm:t>
    </dgm:pt>
    <dgm:pt modelId="{C8887506-8EAD-4CBB-B143-428ED2635F28}" type="sibTrans" cxnId="{7EACE888-E47C-4E9C-9D32-E655B63E9973}">
      <dgm:prSet/>
      <dgm:spPr/>
      <dgm:t>
        <a:bodyPr/>
        <a:lstStyle/>
        <a:p>
          <a:endParaRPr lang="en-US"/>
        </a:p>
      </dgm:t>
    </dgm:pt>
    <dgm:pt modelId="{A6DFECE8-DC86-4039-91AC-5837808C206B}">
      <dgm:prSet/>
      <dgm:spPr/>
      <dgm:t>
        <a:bodyPr/>
        <a:lstStyle/>
        <a:p>
          <a:r>
            <a:rPr lang="en-GB"/>
            <a:t>Physical stats (strength, stamina, agility, sprint speed)</a:t>
          </a:r>
          <a:endParaRPr lang="en-US"/>
        </a:p>
      </dgm:t>
    </dgm:pt>
    <dgm:pt modelId="{003C8E48-651E-49DD-857D-CCF33373646B}" type="parTrans" cxnId="{1956312B-9191-4742-A8D9-FA0EFE5AA14E}">
      <dgm:prSet/>
      <dgm:spPr/>
      <dgm:t>
        <a:bodyPr/>
        <a:lstStyle/>
        <a:p>
          <a:endParaRPr lang="en-US"/>
        </a:p>
      </dgm:t>
    </dgm:pt>
    <dgm:pt modelId="{B648FA21-A771-4961-BF37-CC0079CBB17F}" type="sibTrans" cxnId="{1956312B-9191-4742-A8D9-FA0EFE5AA14E}">
      <dgm:prSet/>
      <dgm:spPr/>
      <dgm:t>
        <a:bodyPr/>
        <a:lstStyle/>
        <a:p>
          <a:endParaRPr lang="en-US"/>
        </a:p>
      </dgm:t>
    </dgm:pt>
    <dgm:pt modelId="{252DD03B-6093-4A9B-98ED-988A08B803F9}">
      <dgm:prSet/>
      <dgm:spPr/>
      <dgm:t>
        <a:bodyPr/>
        <a:lstStyle/>
        <a:p>
          <a:r>
            <a:rPr lang="en-GB" dirty="0"/>
            <a:t>Attacking skills  (composure, positioning, reactions)</a:t>
          </a:r>
          <a:endParaRPr lang="en-US" dirty="0"/>
        </a:p>
      </dgm:t>
    </dgm:pt>
    <dgm:pt modelId="{4E355E92-3353-435B-B3E4-BE088D3F8679}" type="parTrans" cxnId="{45CD9737-C3C6-49D5-AE3F-9459351AC052}">
      <dgm:prSet/>
      <dgm:spPr/>
      <dgm:t>
        <a:bodyPr/>
        <a:lstStyle/>
        <a:p>
          <a:endParaRPr lang="en-US"/>
        </a:p>
      </dgm:t>
    </dgm:pt>
    <dgm:pt modelId="{B7371F14-BF83-4F6E-8F47-C463B4195CCB}" type="sibTrans" cxnId="{45CD9737-C3C6-49D5-AE3F-9459351AC052}">
      <dgm:prSet/>
      <dgm:spPr/>
      <dgm:t>
        <a:bodyPr/>
        <a:lstStyle/>
        <a:p>
          <a:endParaRPr lang="en-US"/>
        </a:p>
      </dgm:t>
    </dgm:pt>
    <dgm:pt modelId="{6D5E8CBA-9C17-47CC-9F79-EACA1122F577}">
      <dgm:prSet/>
      <dgm:spPr/>
      <dgm:t>
        <a:bodyPr/>
        <a:lstStyle/>
        <a:p>
          <a:r>
            <a:rPr lang="en-GB"/>
            <a:t>Financial data (value, wage)</a:t>
          </a:r>
          <a:endParaRPr lang="en-US"/>
        </a:p>
      </dgm:t>
    </dgm:pt>
    <dgm:pt modelId="{01F9FB91-7471-4EFB-97B7-BF0470A4C1EA}" type="parTrans" cxnId="{45EEB332-2796-4B65-8070-B625DB0CB771}">
      <dgm:prSet/>
      <dgm:spPr/>
      <dgm:t>
        <a:bodyPr/>
        <a:lstStyle/>
        <a:p>
          <a:endParaRPr lang="en-US"/>
        </a:p>
      </dgm:t>
    </dgm:pt>
    <dgm:pt modelId="{2DD0FE45-96DC-416A-94D9-B22F7CAE308A}" type="sibTrans" cxnId="{45EEB332-2796-4B65-8070-B625DB0CB771}">
      <dgm:prSet/>
      <dgm:spPr/>
      <dgm:t>
        <a:bodyPr/>
        <a:lstStyle/>
        <a:p>
          <a:endParaRPr lang="en-US"/>
        </a:p>
      </dgm:t>
    </dgm:pt>
    <dgm:pt modelId="{0F077406-D843-4278-8FA7-5DA97E620909}">
      <dgm:prSet/>
      <dgm:spPr/>
      <dgm:t>
        <a:bodyPr/>
        <a:lstStyle/>
        <a:p>
          <a:r>
            <a:rPr lang="en-GB"/>
            <a:t>Demographics (age, nationality, club, preferred foot)</a:t>
          </a:r>
          <a:endParaRPr lang="en-US"/>
        </a:p>
      </dgm:t>
    </dgm:pt>
    <dgm:pt modelId="{8512BFFF-7C87-48C9-8292-EA48389B7C54}" type="parTrans" cxnId="{0EA4A4BB-3024-47DC-832F-5033E51461FF}">
      <dgm:prSet/>
      <dgm:spPr/>
      <dgm:t>
        <a:bodyPr/>
        <a:lstStyle/>
        <a:p>
          <a:endParaRPr lang="en-US"/>
        </a:p>
      </dgm:t>
    </dgm:pt>
    <dgm:pt modelId="{4BE5A712-4E79-404E-848B-047FE296D795}" type="sibTrans" cxnId="{0EA4A4BB-3024-47DC-832F-5033E51461FF}">
      <dgm:prSet/>
      <dgm:spPr/>
      <dgm:t>
        <a:bodyPr/>
        <a:lstStyle/>
        <a:p>
          <a:endParaRPr lang="en-US"/>
        </a:p>
      </dgm:t>
    </dgm:pt>
    <dgm:pt modelId="{116672AD-F71B-4C2B-89EA-C7D0D06FCEF5}">
      <dgm:prSet/>
      <dgm:spPr/>
      <dgm:t>
        <a:bodyPr/>
        <a:lstStyle/>
        <a:p>
          <a:r>
            <a:rPr lang="en-GB"/>
            <a:t>Overall and potential performance ratings</a:t>
          </a:r>
          <a:endParaRPr lang="en-US"/>
        </a:p>
      </dgm:t>
    </dgm:pt>
    <dgm:pt modelId="{545870E6-FB06-4501-B14A-FD9FCE420572}" type="parTrans" cxnId="{51A2078C-D707-4243-A3F5-EF97C21C588D}">
      <dgm:prSet/>
      <dgm:spPr/>
      <dgm:t>
        <a:bodyPr/>
        <a:lstStyle/>
        <a:p>
          <a:endParaRPr lang="en-US"/>
        </a:p>
      </dgm:t>
    </dgm:pt>
    <dgm:pt modelId="{9460E142-36CB-4034-B62D-101CF4FA62A1}" type="sibTrans" cxnId="{51A2078C-D707-4243-A3F5-EF97C21C588D}">
      <dgm:prSet/>
      <dgm:spPr/>
      <dgm:t>
        <a:bodyPr/>
        <a:lstStyle/>
        <a:p>
          <a:endParaRPr lang="en-US"/>
        </a:p>
      </dgm:t>
    </dgm:pt>
    <dgm:pt modelId="{F810103B-B4FA-46DE-BEDD-595323CEB19F}" type="pres">
      <dgm:prSet presAssocID="{0E5FBC82-255E-4578-B02F-F4D5B6420369}" presName="linear" presStyleCnt="0">
        <dgm:presLayoutVars>
          <dgm:dir/>
          <dgm:animLvl val="lvl"/>
          <dgm:resizeHandles val="exact"/>
        </dgm:presLayoutVars>
      </dgm:prSet>
      <dgm:spPr/>
    </dgm:pt>
    <dgm:pt modelId="{A832A3C9-18BF-44EE-8BAE-D902E3DA0B34}" type="pres">
      <dgm:prSet presAssocID="{32672E4D-4051-4E1F-9446-FBD16C4467DE}" presName="parentLin" presStyleCnt="0"/>
      <dgm:spPr/>
    </dgm:pt>
    <dgm:pt modelId="{CDDEADAF-CAF5-49C9-9E3B-ACA7B79F4BC7}" type="pres">
      <dgm:prSet presAssocID="{32672E4D-4051-4E1F-9446-FBD16C4467DE}" presName="parentLeftMargin" presStyleLbl="node1" presStyleIdx="0" presStyleCnt="3"/>
      <dgm:spPr/>
    </dgm:pt>
    <dgm:pt modelId="{C3FC5739-716A-4B36-A808-A0D68EF62518}" type="pres">
      <dgm:prSet presAssocID="{32672E4D-4051-4E1F-9446-FBD16C4467DE}" presName="parentText" presStyleLbl="node1" presStyleIdx="0" presStyleCnt="3">
        <dgm:presLayoutVars>
          <dgm:chMax val="0"/>
          <dgm:bulletEnabled val="1"/>
        </dgm:presLayoutVars>
      </dgm:prSet>
      <dgm:spPr/>
    </dgm:pt>
    <dgm:pt modelId="{5A1BC3C1-AD94-4539-BCB9-5E5C94FEA1D3}" type="pres">
      <dgm:prSet presAssocID="{32672E4D-4051-4E1F-9446-FBD16C4467DE}" presName="negativeSpace" presStyleCnt="0"/>
      <dgm:spPr/>
    </dgm:pt>
    <dgm:pt modelId="{21C8201C-9C9C-41A5-BF51-053FADD54F5A}" type="pres">
      <dgm:prSet presAssocID="{32672E4D-4051-4E1F-9446-FBD16C4467DE}" presName="childText" presStyleLbl="conFgAcc1" presStyleIdx="0" presStyleCnt="3">
        <dgm:presLayoutVars>
          <dgm:bulletEnabled val="1"/>
        </dgm:presLayoutVars>
      </dgm:prSet>
      <dgm:spPr/>
    </dgm:pt>
    <dgm:pt modelId="{AA6EDB6C-2463-47B5-B7F0-D7ED5B1C19E5}" type="pres">
      <dgm:prSet presAssocID="{B10AF166-9674-4818-938B-79E57966DD5F}" presName="spaceBetweenRectangles" presStyleCnt="0"/>
      <dgm:spPr/>
    </dgm:pt>
    <dgm:pt modelId="{259C34DD-E8BF-43CA-968A-1FBDE1865CCF}" type="pres">
      <dgm:prSet presAssocID="{74114C4D-9CD3-4F96-BCDD-76B0CE79092D}" presName="parentLin" presStyleCnt="0"/>
      <dgm:spPr/>
    </dgm:pt>
    <dgm:pt modelId="{1B2CE552-5525-40DA-BABC-9029B86A2727}" type="pres">
      <dgm:prSet presAssocID="{74114C4D-9CD3-4F96-BCDD-76B0CE79092D}" presName="parentLeftMargin" presStyleLbl="node1" presStyleIdx="0" presStyleCnt="3"/>
      <dgm:spPr/>
    </dgm:pt>
    <dgm:pt modelId="{30590620-47B1-47D5-89DB-17C2B7F33646}" type="pres">
      <dgm:prSet presAssocID="{74114C4D-9CD3-4F96-BCDD-76B0CE79092D}" presName="parentText" presStyleLbl="node1" presStyleIdx="1" presStyleCnt="3">
        <dgm:presLayoutVars>
          <dgm:chMax val="0"/>
          <dgm:bulletEnabled val="1"/>
        </dgm:presLayoutVars>
      </dgm:prSet>
      <dgm:spPr/>
    </dgm:pt>
    <dgm:pt modelId="{78777C69-37EE-4735-A880-7E0C88085012}" type="pres">
      <dgm:prSet presAssocID="{74114C4D-9CD3-4F96-BCDD-76B0CE79092D}" presName="negativeSpace" presStyleCnt="0"/>
      <dgm:spPr/>
    </dgm:pt>
    <dgm:pt modelId="{5698B56F-108D-4A50-A37C-9319C3F39145}" type="pres">
      <dgm:prSet presAssocID="{74114C4D-9CD3-4F96-BCDD-76B0CE79092D}" presName="childText" presStyleLbl="conFgAcc1" presStyleIdx="1" presStyleCnt="3">
        <dgm:presLayoutVars>
          <dgm:bulletEnabled val="1"/>
        </dgm:presLayoutVars>
      </dgm:prSet>
      <dgm:spPr/>
    </dgm:pt>
    <dgm:pt modelId="{9D6A8DB0-6F3C-4A30-AF4B-F251AB5F385A}" type="pres">
      <dgm:prSet presAssocID="{1718A8E7-FF85-4A67-A86F-A93F1B58CC03}" presName="spaceBetweenRectangles" presStyleCnt="0"/>
      <dgm:spPr/>
    </dgm:pt>
    <dgm:pt modelId="{DC860A52-07D2-4B10-9CA6-3A67C91473A9}" type="pres">
      <dgm:prSet presAssocID="{A332EB36-46B7-46BC-9CA4-127D3B7C5AF5}" presName="parentLin" presStyleCnt="0"/>
      <dgm:spPr/>
    </dgm:pt>
    <dgm:pt modelId="{9C81B419-39AF-4F2F-AC5F-8E9B55079F60}" type="pres">
      <dgm:prSet presAssocID="{A332EB36-46B7-46BC-9CA4-127D3B7C5AF5}" presName="parentLeftMargin" presStyleLbl="node1" presStyleIdx="1" presStyleCnt="3"/>
      <dgm:spPr/>
    </dgm:pt>
    <dgm:pt modelId="{3238E7CB-5643-4328-9553-997F5248590D}" type="pres">
      <dgm:prSet presAssocID="{A332EB36-46B7-46BC-9CA4-127D3B7C5AF5}" presName="parentText" presStyleLbl="node1" presStyleIdx="2" presStyleCnt="3">
        <dgm:presLayoutVars>
          <dgm:chMax val="0"/>
          <dgm:bulletEnabled val="1"/>
        </dgm:presLayoutVars>
      </dgm:prSet>
      <dgm:spPr/>
    </dgm:pt>
    <dgm:pt modelId="{6DF44CE7-49A2-46D8-995D-097E6088B929}" type="pres">
      <dgm:prSet presAssocID="{A332EB36-46B7-46BC-9CA4-127D3B7C5AF5}" presName="negativeSpace" presStyleCnt="0"/>
      <dgm:spPr/>
    </dgm:pt>
    <dgm:pt modelId="{634CAD31-BCA9-40AE-9888-B8CE975746E1}" type="pres">
      <dgm:prSet presAssocID="{A332EB36-46B7-46BC-9CA4-127D3B7C5AF5}" presName="childText" presStyleLbl="conFgAcc1" presStyleIdx="2" presStyleCnt="3">
        <dgm:presLayoutVars>
          <dgm:bulletEnabled val="1"/>
        </dgm:presLayoutVars>
      </dgm:prSet>
      <dgm:spPr/>
    </dgm:pt>
  </dgm:ptLst>
  <dgm:cxnLst>
    <dgm:cxn modelId="{8BF62D06-C0B8-4B1B-8896-C3D7726E9F5C}" type="presOf" srcId="{116672AD-F71B-4C2B-89EA-C7D0D06FCEF5}" destId="{634CAD31-BCA9-40AE-9888-B8CE975746E1}" srcOrd="0" destOrd="5" presId="urn:microsoft.com/office/officeart/2005/8/layout/list1"/>
    <dgm:cxn modelId="{8FE7B015-EE3F-441A-8968-B1980CF99DED}" type="presOf" srcId="{32672E4D-4051-4E1F-9446-FBD16C4467DE}" destId="{C3FC5739-716A-4B36-A808-A0D68EF62518}" srcOrd="1" destOrd="0" presId="urn:microsoft.com/office/officeart/2005/8/layout/list1"/>
    <dgm:cxn modelId="{12CC1917-C18F-4ED8-B932-84F561713EBA}" type="presOf" srcId="{6D5E8CBA-9C17-47CC-9F79-EACA1122F577}" destId="{634CAD31-BCA9-40AE-9888-B8CE975746E1}" srcOrd="0" destOrd="3" presId="urn:microsoft.com/office/officeart/2005/8/layout/list1"/>
    <dgm:cxn modelId="{1956312B-9191-4742-A8D9-FA0EFE5AA14E}" srcId="{A332EB36-46B7-46BC-9CA4-127D3B7C5AF5}" destId="{A6DFECE8-DC86-4039-91AC-5837808C206B}" srcOrd="1" destOrd="0" parTransId="{003C8E48-651E-49DD-857D-CCF33373646B}" sibTransId="{B648FA21-A771-4961-BF37-CC0079CBB17F}"/>
    <dgm:cxn modelId="{45EEB332-2796-4B65-8070-B625DB0CB771}" srcId="{A332EB36-46B7-46BC-9CA4-127D3B7C5AF5}" destId="{6D5E8CBA-9C17-47CC-9F79-EACA1122F577}" srcOrd="3" destOrd="0" parTransId="{01F9FB91-7471-4EFB-97B7-BF0470A4C1EA}" sibTransId="{2DD0FE45-96DC-416A-94D9-B22F7CAE308A}"/>
    <dgm:cxn modelId="{90AD9933-A272-4124-A201-EC43F099AE32}" type="presOf" srcId="{0F077406-D843-4278-8FA7-5DA97E620909}" destId="{634CAD31-BCA9-40AE-9888-B8CE975746E1}" srcOrd="0" destOrd="4" presId="urn:microsoft.com/office/officeart/2005/8/layout/list1"/>
    <dgm:cxn modelId="{45CD9737-C3C6-49D5-AE3F-9459351AC052}" srcId="{A332EB36-46B7-46BC-9CA4-127D3B7C5AF5}" destId="{252DD03B-6093-4A9B-98ED-988A08B803F9}" srcOrd="2" destOrd="0" parTransId="{4E355E92-3353-435B-B3E4-BE088D3F8679}" sibTransId="{B7371F14-BF83-4F6E-8F47-C463B4195CCB}"/>
    <dgm:cxn modelId="{20926F38-AB26-46C9-BBE3-4EABDF6F405A}" srcId="{0E5FBC82-255E-4578-B02F-F4D5B6420369}" destId="{74114C4D-9CD3-4F96-BCDD-76B0CE79092D}" srcOrd="1" destOrd="0" parTransId="{F64AD267-1168-4FAA-86D6-FC68AB76C445}" sibTransId="{1718A8E7-FF85-4A67-A86F-A93F1B58CC03}"/>
    <dgm:cxn modelId="{5BB58440-8CD9-453C-A052-E9F2AB61CA47}" srcId="{0E5FBC82-255E-4578-B02F-F4D5B6420369}" destId="{A332EB36-46B7-46BC-9CA4-127D3B7C5AF5}" srcOrd="2" destOrd="0" parTransId="{19A67B35-A889-432C-9260-E7EAC9757CB1}" sibTransId="{158EC41E-4EED-4A50-8BF1-11E62C290D64}"/>
    <dgm:cxn modelId="{B16E1A43-4184-4649-9255-B793F5582F2B}" type="presOf" srcId="{A6DFECE8-DC86-4039-91AC-5837808C206B}" destId="{634CAD31-BCA9-40AE-9888-B8CE975746E1}" srcOrd="0" destOrd="1" presId="urn:microsoft.com/office/officeart/2005/8/layout/list1"/>
    <dgm:cxn modelId="{4CAE566A-0BCB-4C5F-AE71-D27842087732}" type="presOf" srcId="{1CB001D7-A914-467F-AF82-FCD8B98978BD}" destId="{634CAD31-BCA9-40AE-9888-B8CE975746E1}" srcOrd="0" destOrd="0" presId="urn:microsoft.com/office/officeart/2005/8/layout/list1"/>
    <dgm:cxn modelId="{7C2C906B-98F3-4FC3-BD39-CC2E945D06B6}" type="presOf" srcId="{32672E4D-4051-4E1F-9446-FBD16C4467DE}" destId="{CDDEADAF-CAF5-49C9-9E3B-ACA7B79F4BC7}" srcOrd="0" destOrd="0" presId="urn:microsoft.com/office/officeart/2005/8/layout/list1"/>
    <dgm:cxn modelId="{8973AC6C-8C5D-465A-9E08-424B81876B5C}" type="presOf" srcId="{252DD03B-6093-4A9B-98ED-988A08B803F9}" destId="{634CAD31-BCA9-40AE-9888-B8CE975746E1}" srcOrd="0" destOrd="2" presId="urn:microsoft.com/office/officeart/2005/8/layout/list1"/>
    <dgm:cxn modelId="{7EACE888-E47C-4E9C-9D32-E655B63E9973}" srcId="{A332EB36-46B7-46BC-9CA4-127D3B7C5AF5}" destId="{1CB001D7-A914-467F-AF82-FCD8B98978BD}" srcOrd="0" destOrd="0" parTransId="{6AB7F1CF-61B4-4944-AA50-802239C5060A}" sibTransId="{C8887506-8EAD-4CBB-B143-428ED2635F28}"/>
    <dgm:cxn modelId="{51A2078C-D707-4243-A3F5-EF97C21C588D}" srcId="{A332EB36-46B7-46BC-9CA4-127D3B7C5AF5}" destId="{116672AD-F71B-4C2B-89EA-C7D0D06FCEF5}" srcOrd="5" destOrd="0" parTransId="{545870E6-FB06-4501-B14A-FD9FCE420572}" sibTransId="{9460E142-36CB-4034-B62D-101CF4FA62A1}"/>
    <dgm:cxn modelId="{088E0A90-F641-4711-85E7-C87B7DFE50B9}" type="presOf" srcId="{74114C4D-9CD3-4F96-BCDD-76B0CE79092D}" destId="{30590620-47B1-47D5-89DB-17C2B7F33646}" srcOrd="1" destOrd="0" presId="urn:microsoft.com/office/officeart/2005/8/layout/list1"/>
    <dgm:cxn modelId="{0155AB99-1B3B-4E6F-8348-D411B5CBE072}" type="presOf" srcId="{74114C4D-9CD3-4F96-BCDD-76B0CE79092D}" destId="{1B2CE552-5525-40DA-BABC-9029B86A2727}" srcOrd="0" destOrd="0" presId="urn:microsoft.com/office/officeart/2005/8/layout/list1"/>
    <dgm:cxn modelId="{3A22059C-8626-4274-B42E-5DD89883606E}" type="presOf" srcId="{A332EB36-46B7-46BC-9CA4-127D3B7C5AF5}" destId="{9C81B419-39AF-4F2F-AC5F-8E9B55079F60}" srcOrd="0" destOrd="0" presId="urn:microsoft.com/office/officeart/2005/8/layout/list1"/>
    <dgm:cxn modelId="{8F5F70AA-2496-4858-8BCF-2673BB524155}" type="presOf" srcId="{A332EB36-46B7-46BC-9CA4-127D3B7C5AF5}" destId="{3238E7CB-5643-4328-9553-997F5248590D}" srcOrd="1" destOrd="0" presId="urn:microsoft.com/office/officeart/2005/8/layout/list1"/>
    <dgm:cxn modelId="{FBEA9DBA-8A65-407C-8601-3440F5B81532}" srcId="{0E5FBC82-255E-4578-B02F-F4D5B6420369}" destId="{32672E4D-4051-4E1F-9446-FBD16C4467DE}" srcOrd="0" destOrd="0" parTransId="{A10574E7-9AC6-400F-99B3-DEF74E2AFBD7}" sibTransId="{B10AF166-9674-4818-938B-79E57966DD5F}"/>
    <dgm:cxn modelId="{0EA4A4BB-3024-47DC-832F-5033E51461FF}" srcId="{A332EB36-46B7-46BC-9CA4-127D3B7C5AF5}" destId="{0F077406-D843-4278-8FA7-5DA97E620909}" srcOrd="4" destOrd="0" parTransId="{8512BFFF-7C87-48C9-8292-EA48389B7C54}" sibTransId="{4BE5A712-4E79-404E-848B-047FE296D795}"/>
    <dgm:cxn modelId="{B35E4DF6-C86E-4200-ACD6-5AB846A95D79}" type="presOf" srcId="{0E5FBC82-255E-4578-B02F-F4D5B6420369}" destId="{F810103B-B4FA-46DE-BEDD-595323CEB19F}" srcOrd="0" destOrd="0" presId="urn:microsoft.com/office/officeart/2005/8/layout/list1"/>
    <dgm:cxn modelId="{CB17C296-64DF-4F49-A249-11E60D2B13FA}" type="presParOf" srcId="{F810103B-B4FA-46DE-BEDD-595323CEB19F}" destId="{A832A3C9-18BF-44EE-8BAE-D902E3DA0B34}" srcOrd="0" destOrd="0" presId="urn:microsoft.com/office/officeart/2005/8/layout/list1"/>
    <dgm:cxn modelId="{046FBB90-0868-45A4-952A-0F343D2AC6EA}" type="presParOf" srcId="{A832A3C9-18BF-44EE-8BAE-D902E3DA0B34}" destId="{CDDEADAF-CAF5-49C9-9E3B-ACA7B79F4BC7}" srcOrd="0" destOrd="0" presId="urn:microsoft.com/office/officeart/2005/8/layout/list1"/>
    <dgm:cxn modelId="{984209FB-F21C-4A3F-A5FE-ECCEB0CE9591}" type="presParOf" srcId="{A832A3C9-18BF-44EE-8BAE-D902E3DA0B34}" destId="{C3FC5739-716A-4B36-A808-A0D68EF62518}" srcOrd="1" destOrd="0" presId="urn:microsoft.com/office/officeart/2005/8/layout/list1"/>
    <dgm:cxn modelId="{8325067C-3842-48BC-BCB3-EC0792369205}" type="presParOf" srcId="{F810103B-B4FA-46DE-BEDD-595323CEB19F}" destId="{5A1BC3C1-AD94-4539-BCB9-5E5C94FEA1D3}" srcOrd="1" destOrd="0" presId="urn:microsoft.com/office/officeart/2005/8/layout/list1"/>
    <dgm:cxn modelId="{72976D28-90A6-4DF2-B2CB-347982B4E85E}" type="presParOf" srcId="{F810103B-B4FA-46DE-BEDD-595323CEB19F}" destId="{21C8201C-9C9C-41A5-BF51-053FADD54F5A}" srcOrd="2" destOrd="0" presId="urn:microsoft.com/office/officeart/2005/8/layout/list1"/>
    <dgm:cxn modelId="{761178DB-D0D9-4521-BD5B-508AACCFF5AA}" type="presParOf" srcId="{F810103B-B4FA-46DE-BEDD-595323CEB19F}" destId="{AA6EDB6C-2463-47B5-B7F0-D7ED5B1C19E5}" srcOrd="3" destOrd="0" presId="urn:microsoft.com/office/officeart/2005/8/layout/list1"/>
    <dgm:cxn modelId="{5A6AD3AA-90DF-4E09-A60A-445A2E5DAE34}" type="presParOf" srcId="{F810103B-B4FA-46DE-BEDD-595323CEB19F}" destId="{259C34DD-E8BF-43CA-968A-1FBDE1865CCF}" srcOrd="4" destOrd="0" presId="urn:microsoft.com/office/officeart/2005/8/layout/list1"/>
    <dgm:cxn modelId="{FD0AFBEC-E6D5-4325-A6F4-473EFE0FF818}" type="presParOf" srcId="{259C34DD-E8BF-43CA-968A-1FBDE1865CCF}" destId="{1B2CE552-5525-40DA-BABC-9029B86A2727}" srcOrd="0" destOrd="0" presId="urn:microsoft.com/office/officeart/2005/8/layout/list1"/>
    <dgm:cxn modelId="{939327BE-7B95-4FB2-BFA8-15E3568AE200}" type="presParOf" srcId="{259C34DD-E8BF-43CA-968A-1FBDE1865CCF}" destId="{30590620-47B1-47D5-89DB-17C2B7F33646}" srcOrd="1" destOrd="0" presId="urn:microsoft.com/office/officeart/2005/8/layout/list1"/>
    <dgm:cxn modelId="{2A21B951-9217-4EF5-BFD2-5D82FDBA0C94}" type="presParOf" srcId="{F810103B-B4FA-46DE-BEDD-595323CEB19F}" destId="{78777C69-37EE-4735-A880-7E0C88085012}" srcOrd="5" destOrd="0" presId="urn:microsoft.com/office/officeart/2005/8/layout/list1"/>
    <dgm:cxn modelId="{9F46F469-458C-420F-8C9D-8445F78EDAC3}" type="presParOf" srcId="{F810103B-B4FA-46DE-BEDD-595323CEB19F}" destId="{5698B56F-108D-4A50-A37C-9319C3F39145}" srcOrd="6" destOrd="0" presId="urn:microsoft.com/office/officeart/2005/8/layout/list1"/>
    <dgm:cxn modelId="{48D8ACDF-35B6-4FAE-9FFF-81FE9F616120}" type="presParOf" srcId="{F810103B-B4FA-46DE-BEDD-595323CEB19F}" destId="{9D6A8DB0-6F3C-4A30-AF4B-F251AB5F385A}" srcOrd="7" destOrd="0" presId="urn:microsoft.com/office/officeart/2005/8/layout/list1"/>
    <dgm:cxn modelId="{D0AC3C90-B549-4E3B-A37F-6B2BC1059A5D}" type="presParOf" srcId="{F810103B-B4FA-46DE-BEDD-595323CEB19F}" destId="{DC860A52-07D2-4B10-9CA6-3A67C91473A9}" srcOrd="8" destOrd="0" presId="urn:microsoft.com/office/officeart/2005/8/layout/list1"/>
    <dgm:cxn modelId="{AB42F922-3707-471D-98C2-8AF896D3B67C}" type="presParOf" srcId="{DC860A52-07D2-4B10-9CA6-3A67C91473A9}" destId="{9C81B419-39AF-4F2F-AC5F-8E9B55079F60}" srcOrd="0" destOrd="0" presId="urn:microsoft.com/office/officeart/2005/8/layout/list1"/>
    <dgm:cxn modelId="{81C20A53-B2E6-455A-8101-8DCB718BC8E9}" type="presParOf" srcId="{DC860A52-07D2-4B10-9CA6-3A67C91473A9}" destId="{3238E7CB-5643-4328-9553-997F5248590D}" srcOrd="1" destOrd="0" presId="urn:microsoft.com/office/officeart/2005/8/layout/list1"/>
    <dgm:cxn modelId="{6AA937F9-9047-400D-B60B-F4395CEBEE33}" type="presParOf" srcId="{F810103B-B4FA-46DE-BEDD-595323CEB19F}" destId="{6DF44CE7-49A2-46D8-995D-097E6088B929}" srcOrd="9" destOrd="0" presId="urn:microsoft.com/office/officeart/2005/8/layout/list1"/>
    <dgm:cxn modelId="{4D74FB7E-F1CC-456B-B5B8-572CFD06FCA2}" type="presParOf" srcId="{F810103B-B4FA-46DE-BEDD-595323CEB19F}" destId="{634CAD31-BCA9-40AE-9888-B8CE975746E1}"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C8201C-9C9C-41A5-BF51-053FADD54F5A}">
      <dsp:nvSpPr>
        <dsp:cNvPr id="0" name=""/>
        <dsp:cNvSpPr/>
      </dsp:nvSpPr>
      <dsp:spPr>
        <a:xfrm>
          <a:off x="0" y="1212259"/>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3FC5739-716A-4B36-A808-A0D68EF62518}">
      <dsp:nvSpPr>
        <dsp:cNvPr id="0" name=""/>
        <dsp:cNvSpPr/>
      </dsp:nvSpPr>
      <dsp:spPr>
        <a:xfrm>
          <a:off x="333341" y="990859"/>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en-GB" sz="1500" b="1" kern="1200"/>
            <a:t>Dataset Overview</a:t>
          </a:r>
          <a:endParaRPr lang="en-US" sz="1500" kern="1200"/>
        </a:p>
      </dsp:txBody>
      <dsp:txXfrm>
        <a:off x="354957" y="1012475"/>
        <a:ext cx="4623551" cy="399568"/>
      </dsp:txXfrm>
    </dsp:sp>
    <dsp:sp modelId="{5698B56F-108D-4A50-A37C-9319C3F39145}">
      <dsp:nvSpPr>
        <dsp:cNvPr id="0" name=""/>
        <dsp:cNvSpPr/>
      </dsp:nvSpPr>
      <dsp:spPr>
        <a:xfrm>
          <a:off x="0" y="1892659"/>
          <a:ext cx="6666833" cy="378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0590620-47B1-47D5-89DB-17C2B7F33646}">
      <dsp:nvSpPr>
        <dsp:cNvPr id="0" name=""/>
        <dsp:cNvSpPr/>
      </dsp:nvSpPr>
      <dsp:spPr>
        <a:xfrm>
          <a:off x="333341" y="1671259"/>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en-GB" sz="1500" b="1" kern="1200"/>
            <a:t>Total Records:</a:t>
          </a:r>
          <a:r>
            <a:rPr lang="en-GB" sz="1500" kern="1200"/>
            <a:t> Approximately 18,200 Rows</a:t>
          </a:r>
          <a:endParaRPr lang="en-US" sz="1500" kern="1200"/>
        </a:p>
      </dsp:txBody>
      <dsp:txXfrm>
        <a:off x="354957" y="1692875"/>
        <a:ext cx="4623551" cy="399568"/>
      </dsp:txXfrm>
    </dsp:sp>
    <dsp:sp modelId="{634CAD31-BCA9-40AE-9888-B8CE975746E1}">
      <dsp:nvSpPr>
        <dsp:cNvPr id="0" name=""/>
        <dsp:cNvSpPr/>
      </dsp:nvSpPr>
      <dsp:spPr>
        <a:xfrm>
          <a:off x="0" y="2573060"/>
          <a:ext cx="6666833" cy="189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12420" rIns="517420" bIns="106680" numCol="1" spcCol="1270" anchor="t" anchorCtr="0">
          <a:noAutofit/>
        </a:bodyPr>
        <a:lstStyle/>
        <a:p>
          <a:pPr marL="114300" lvl="1" indent="-114300" algn="l" defTabSz="666750">
            <a:lnSpc>
              <a:spcPct val="90000"/>
            </a:lnSpc>
            <a:spcBef>
              <a:spcPct val="0"/>
            </a:spcBef>
            <a:spcAft>
              <a:spcPct val="15000"/>
            </a:spcAft>
            <a:buChar char="•"/>
          </a:pPr>
          <a:r>
            <a:rPr lang="en-GB" sz="1500" kern="1200"/>
            <a:t>Passing skills (dribbling, passing, finishing, vision, etc.)</a:t>
          </a:r>
          <a:endParaRPr lang="en-US" sz="1500" kern="1200"/>
        </a:p>
        <a:p>
          <a:pPr marL="114300" lvl="1" indent="-114300" algn="l" defTabSz="666750">
            <a:lnSpc>
              <a:spcPct val="90000"/>
            </a:lnSpc>
            <a:spcBef>
              <a:spcPct val="0"/>
            </a:spcBef>
            <a:spcAft>
              <a:spcPct val="15000"/>
            </a:spcAft>
            <a:buChar char="•"/>
          </a:pPr>
          <a:r>
            <a:rPr lang="en-GB" sz="1500" kern="1200"/>
            <a:t>Physical stats (strength, stamina, agility, sprint speed)</a:t>
          </a:r>
          <a:endParaRPr lang="en-US" sz="1500" kern="1200"/>
        </a:p>
        <a:p>
          <a:pPr marL="114300" lvl="1" indent="-114300" algn="l" defTabSz="666750">
            <a:lnSpc>
              <a:spcPct val="90000"/>
            </a:lnSpc>
            <a:spcBef>
              <a:spcPct val="0"/>
            </a:spcBef>
            <a:spcAft>
              <a:spcPct val="15000"/>
            </a:spcAft>
            <a:buChar char="•"/>
          </a:pPr>
          <a:r>
            <a:rPr lang="en-GB" sz="1500" kern="1200" dirty="0"/>
            <a:t>Attacking skills  (composure, positioning, reactions)</a:t>
          </a:r>
          <a:endParaRPr lang="en-US" sz="1500" kern="1200" dirty="0"/>
        </a:p>
        <a:p>
          <a:pPr marL="114300" lvl="1" indent="-114300" algn="l" defTabSz="666750">
            <a:lnSpc>
              <a:spcPct val="90000"/>
            </a:lnSpc>
            <a:spcBef>
              <a:spcPct val="0"/>
            </a:spcBef>
            <a:spcAft>
              <a:spcPct val="15000"/>
            </a:spcAft>
            <a:buChar char="•"/>
          </a:pPr>
          <a:r>
            <a:rPr lang="en-GB" sz="1500" kern="1200"/>
            <a:t>Financial data (value, wage)</a:t>
          </a:r>
          <a:endParaRPr lang="en-US" sz="1500" kern="1200"/>
        </a:p>
        <a:p>
          <a:pPr marL="114300" lvl="1" indent="-114300" algn="l" defTabSz="666750">
            <a:lnSpc>
              <a:spcPct val="90000"/>
            </a:lnSpc>
            <a:spcBef>
              <a:spcPct val="0"/>
            </a:spcBef>
            <a:spcAft>
              <a:spcPct val="15000"/>
            </a:spcAft>
            <a:buChar char="•"/>
          </a:pPr>
          <a:r>
            <a:rPr lang="en-GB" sz="1500" kern="1200"/>
            <a:t>Demographics (age, nationality, club, preferred foot)</a:t>
          </a:r>
          <a:endParaRPr lang="en-US" sz="1500" kern="1200"/>
        </a:p>
        <a:p>
          <a:pPr marL="114300" lvl="1" indent="-114300" algn="l" defTabSz="666750">
            <a:lnSpc>
              <a:spcPct val="90000"/>
            </a:lnSpc>
            <a:spcBef>
              <a:spcPct val="0"/>
            </a:spcBef>
            <a:spcAft>
              <a:spcPct val="15000"/>
            </a:spcAft>
            <a:buChar char="•"/>
          </a:pPr>
          <a:r>
            <a:rPr lang="en-GB" sz="1500" kern="1200"/>
            <a:t>Overall and potential performance ratings</a:t>
          </a:r>
          <a:endParaRPr lang="en-US" sz="1500" kern="1200"/>
        </a:p>
      </dsp:txBody>
      <dsp:txXfrm>
        <a:off x="0" y="2573060"/>
        <a:ext cx="6666833" cy="1890000"/>
      </dsp:txXfrm>
    </dsp:sp>
    <dsp:sp modelId="{3238E7CB-5643-4328-9553-997F5248590D}">
      <dsp:nvSpPr>
        <dsp:cNvPr id="0" name=""/>
        <dsp:cNvSpPr/>
      </dsp:nvSpPr>
      <dsp:spPr>
        <a:xfrm>
          <a:off x="333341" y="2351660"/>
          <a:ext cx="4666783" cy="44280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666750">
            <a:lnSpc>
              <a:spcPct val="90000"/>
            </a:lnSpc>
            <a:spcBef>
              <a:spcPct val="0"/>
            </a:spcBef>
            <a:spcAft>
              <a:spcPct val="35000"/>
            </a:spcAft>
            <a:buNone/>
          </a:pPr>
          <a:r>
            <a:rPr lang="en-GB" sz="1500" b="1" kern="1200"/>
            <a:t>Features (Columns):</a:t>
          </a:r>
          <a:r>
            <a:rPr lang="en-GB" sz="1500" kern="1200"/>
            <a:t> Over </a:t>
          </a:r>
          <a:r>
            <a:rPr lang="en-GB" sz="1500" b="1" kern="1200"/>
            <a:t>25+ attributes</a:t>
          </a:r>
          <a:r>
            <a:rPr lang="en-GB" sz="1500" kern="1200"/>
            <a:t>, including</a:t>
          </a:r>
          <a:endParaRPr lang="en-US" sz="1500" kern="1200"/>
        </a:p>
      </dsp:txBody>
      <dsp:txXfrm>
        <a:off x="354957" y="2373276"/>
        <a:ext cx="4623551" cy="39956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2D5017-2BDC-4C31-AE8A-81BABAFD2AD6}" type="datetimeFigureOut">
              <a:rPr lang="en-GB" smtClean="0"/>
              <a:t>23/11/2025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821720-BBDB-4269-A9B2-231F35958037}" type="slidenum">
              <a:rPr lang="en-GB" smtClean="0"/>
              <a:t>‹#›</a:t>
            </a:fld>
            <a:endParaRPr lang="en-GB"/>
          </a:p>
        </p:txBody>
      </p:sp>
    </p:spTree>
    <p:extLst>
      <p:ext uri="{BB962C8B-B14F-4D97-AF65-F5344CB8AC3E}">
        <p14:creationId xmlns:p14="http://schemas.microsoft.com/office/powerpoint/2010/main" val="1457853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1821720-BBDB-4269-A9B2-231F35958037}" type="slidenum">
              <a:rPr lang="en-GB" smtClean="0"/>
              <a:t>4</a:t>
            </a:fld>
            <a:endParaRPr lang="en-GB"/>
          </a:p>
        </p:txBody>
      </p:sp>
    </p:spTree>
    <p:extLst>
      <p:ext uri="{BB962C8B-B14F-4D97-AF65-F5344CB8AC3E}">
        <p14:creationId xmlns:p14="http://schemas.microsoft.com/office/powerpoint/2010/main" val="3527748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1821720-BBDB-4269-A9B2-231F35958037}" type="slidenum">
              <a:rPr lang="en-GB" smtClean="0"/>
              <a:t>14</a:t>
            </a:fld>
            <a:endParaRPr lang="en-GB"/>
          </a:p>
        </p:txBody>
      </p:sp>
    </p:spTree>
    <p:extLst>
      <p:ext uri="{BB962C8B-B14F-4D97-AF65-F5344CB8AC3E}">
        <p14:creationId xmlns:p14="http://schemas.microsoft.com/office/powerpoint/2010/main" val="2990576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CDBDA-6853-3674-F7C8-61F92A25CE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8900440-A605-25F0-A42D-F2B90D25AF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9A6AC1B-B08D-56F1-9CC6-B1340AF488D1}"/>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6B9003D0-B53B-78E0-0AC1-90B2891C2E9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93AE378-DB2B-CB48-A82C-3EA20ABB8C28}"/>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309172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7A36C-3FE1-8CBE-881D-7450FD4CF8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537D83E-A809-542D-BE48-58D4CA0DCF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D9FD57-C6B3-81E4-A8F2-EE33A812C96B}"/>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8DE9F8E3-9F64-D6C5-E905-347F5765673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85DC95-55A0-E642-DAF3-EDAFF0262C11}"/>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2606001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01247-58C5-141A-7402-C5FE28AF26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B538C0A-A05B-8BA0-DC2F-C801CFD00C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DEB660-70DD-69B0-502C-AC727F5189D6}"/>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843B77E3-22E9-0E2A-72E8-AD210F9F60E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4CB005A-044F-EADB-E8CF-75D8449C694B}"/>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4151101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CA890-9CF9-1B3A-B3B4-35981CB807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E9841BB-D677-35B0-89D7-086183756A1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743BE66-2760-51D2-F5CD-AAB4777175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52DFEC1-FBAC-1923-2EC8-9D197CF64961}"/>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6" name="Footer Placeholder 5">
            <a:extLst>
              <a:ext uri="{FF2B5EF4-FFF2-40B4-BE49-F238E27FC236}">
                <a16:creationId xmlns:a16="http://schemas.microsoft.com/office/drawing/2014/main" id="{4D893FAD-FBD2-13F4-F71E-67224A7DC8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7E4C08F-1EF5-A522-EA83-EA5C5C1D38B6}"/>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2715811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7239E-3384-171A-55A6-E568EBEF3600}"/>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4078319-1C38-1E9C-5CDA-44A7BF5967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F9EC1A-DED4-07FA-0605-32EA84D6C8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43D5742-4160-4F09-42BA-2B4E84CA2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BADA06-983B-80E5-5694-6F46C2016A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529DCA43-7FA7-76CB-8FE7-05A5EFB562B9}"/>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8" name="Footer Placeholder 7">
            <a:extLst>
              <a:ext uri="{FF2B5EF4-FFF2-40B4-BE49-F238E27FC236}">
                <a16:creationId xmlns:a16="http://schemas.microsoft.com/office/drawing/2014/main" id="{D76E1437-BFE5-841B-A799-5E1D23F4E98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FD90E3A2-664C-0FE5-19FF-C5495B896447}"/>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3338703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00FD74-CC4E-B265-2FAD-49E69271935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D67B896C-3E97-BFA5-1686-D9CD6DAD9289}"/>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4" name="Footer Placeholder 3">
            <a:extLst>
              <a:ext uri="{FF2B5EF4-FFF2-40B4-BE49-F238E27FC236}">
                <a16:creationId xmlns:a16="http://schemas.microsoft.com/office/drawing/2014/main" id="{2AFF5539-41D9-4AC1-5BB0-0B562DCFD57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D4CBA80-7E0B-DDA9-3462-5F50775B578E}"/>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1352228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F21E39-EF8F-2653-67E6-5F19D219FF75}"/>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3" name="Footer Placeholder 2">
            <a:extLst>
              <a:ext uri="{FF2B5EF4-FFF2-40B4-BE49-F238E27FC236}">
                <a16:creationId xmlns:a16="http://schemas.microsoft.com/office/drawing/2014/main" id="{9040DB84-D7AB-CDAB-2FF0-C02CF161F5C5}"/>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CBA7DFF-2C03-FD45-9313-E255ABFA87B3}"/>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3243215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04C44-82E1-FAA8-211F-A736CC2697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86A766E-9160-6C0A-1235-9015EE494A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C824C5-A279-2B74-5135-E795126AC7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BD116F-6A34-31B6-DD87-805656D329A5}"/>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6" name="Footer Placeholder 5">
            <a:extLst>
              <a:ext uri="{FF2B5EF4-FFF2-40B4-BE49-F238E27FC236}">
                <a16:creationId xmlns:a16="http://schemas.microsoft.com/office/drawing/2014/main" id="{BEFEB03A-6025-F233-15BD-0502615A2CA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173EDB3-C7A0-8C0D-8D7E-4AE408A9FA23}"/>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1843770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05CC3-3143-F50D-2138-D5B07CFBFC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05FA896-1E81-F734-294C-24B2CCCE91F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11E8A8-7227-BFAD-1DEB-DF0B8D465B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BC2044-76ED-7EF0-C50F-8CF08A77B7DE}"/>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6" name="Footer Placeholder 5">
            <a:extLst>
              <a:ext uri="{FF2B5EF4-FFF2-40B4-BE49-F238E27FC236}">
                <a16:creationId xmlns:a16="http://schemas.microsoft.com/office/drawing/2014/main" id="{B340F3A4-2FC9-B8D2-8CDA-E5E1B4EBBF2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26A177B-022A-46C7-8950-126C29DA7DD8}"/>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1465156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2A886-3BF1-D8BF-5028-DA87E67FDC9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DB50F1B-6CDF-FC7D-328F-CBFAA089E73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996184-1D0C-6AE7-8EA7-7851A0E32BB9}"/>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936DDB63-279A-B4BF-0202-D6BE0A0367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DEA83DF-2EB9-FD56-FEA7-B67CFEB3533B}"/>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362338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7F2321-7DF3-4DC5-4A24-8BC68769FD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3A62CE9-3B21-D328-53D7-8059838D06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FDC9939-15B7-6E9E-137A-B4DE256BAD75}"/>
              </a:ext>
            </a:extLst>
          </p:cNvPr>
          <p:cNvSpPr>
            <a:spLocks noGrp="1"/>
          </p:cNvSpPr>
          <p:nvPr>
            <p:ph type="dt" sz="half" idx="10"/>
          </p:nvPr>
        </p:nvSpPr>
        <p:spPr/>
        <p:txBody>
          <a:body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E913E80F-5603-1A1A-3C3C-C85C3AC2FA0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8DDDEA4-8A41-1A0A-442E-7CF1A307FBCC}"/>
              </a:ext>
            </a:extLst>
          </p:cNvPr>
          <p:cNvSpPr>
            <a:spLocks noGrp="1"/>
          </p:cNvSpPr>
          <p:nvPr>
            <p:ph type="sldNum" sz="quarter" idx="12"/>
          </p:nvPr>
        </p:nvSpPr>
        <p:spPr/>
        <p:txBody>
          <a:bodyPr/>
          <a:lstStyle/>
          <a:p>
            <a:fld id="{BC1D4106-21D8-47BE-981D-7BC31BB352E3}" type="slidenum">
              <a:rPr lang="en-GB" smtClean="0"/>
              <a:t>‹#›</a:t>
            </a:fld>
            <a:endParaRPr lang="en-GB"/>
          </a:p>
        </p:txBody>
      </p:sp>
    </p:spTree>
    <p:extLst>
      <p:ext uri="{BB962C8B-B14F-4D97-AF65-F5344CB8AC3E}">
        <p14:creationId xmlns:p14="http://schemas.microsoft.com/office/powerpoint/2010/main" val="706996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DC68B5-D563-DB3C-6BC1-C06FA05CB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22019D3-2535-F3E5-A7E6-9E7684C3C06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8472D46-6BCD-C446-9652-D556B352D8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B12E576-72C6-4B80-9FE0-1B90AE7D4C5E}" type="datetimeFigureOut">
              <a:rPr lang="en-GB" smtClean="0"/>
              <a:t>23/11/2025</a:t>
            </a:fld>
            <a:endParaRPr lang="en-GB"/>
          </a:p>
        </p:txBody>
      </p:sp>
      <p:sp>
        <p:nvSpPr>
          <p:cNvPr id="5" name="Footer Placeholder 4">
            <a:extLst>
              <a:ext uri="{FF2B5EF4-FFF2-40B4-BE49-F238E27FC236}">
                <a16:creationId xmlns:a16="http://schemas.microsoft.com/office/drawing/2014/main" id="{D7E018E8-3CFF-5EEA-5176-A59FEEF04B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3BE5CFF7-1537-6BF5-0397-9ADA1087FB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C1D4106-21D8-47BE-981D-7BC31BB352E3}" type="slidenum">
              <a:rPr lang="en-GB" smtClean="0"/>
              <a:t>‹#›</a:t>
            </a:fld>
            <a:endParaRPr lang="en-GB"/>
          </a:p>
        </p:txBody>
      </p:sp>
    </p:spTree>
    <p:extLst>
      <p:ext uri="{BB962C8B-B14F-4D97-AF65-F5344CB8AC3E}">
        <p14:creationId xmlns:p14="http://schemas.microsoft.com/office/powerpoint/2010/main" val="28140256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609FF9A-4FCE-468E-A86A-C9AB525EAE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21E12D4-3A88-428D-8E5E-AF1AFD923D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Two referees near the goal signaling touchdown to large stadium">
            <a:extLst>
              <a:ext uri="{FF2B5EF4-FFF2-40B4-BE49-F238E27FC236}">
                <a16:creationId xmlns:a16="http://schemas.microsoft.com/office/drawing/2014/main" id="{FBA24929-B6FF-EC07-6E58-78C03BCC7C98}"/>
              </a:ext>
            </a:extLst>
          </p:cNvPr>
          <p:cNvPicPr>
            <a:picLocks noChangeAspect="1"/>
          </p:cNvPicPr>
          <p:nvPr/>
        </p:nvPicPr>
        <p:blipFill>
          <a:blip r:embed="rId2">
            <a:alphaModFix amt="60000"/>
          </a:blip>
          <a:srcRect t="12473" b="2941"/>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A42E226C-2CDE-A834-8ADA-5B6EDCC21BFD}"/>
              </a:ext>
            </a:extLst>
          </p:cNvPr>
          <p:cNvSpPr>
            <a:spLocks noGrp="1"/>
          </p:cNvSpPr>
          <p:nvPr>
            <p:ph type="ctrTitle"/>
          </p:nvPr>
        </p:nvSpPr>
        <p:spPr>
          <a:xfrm>
            <a:off x="838200" y="914402"/>
            <a:ext cx="10515600" cy="2985923"/>
          </a:xfrm>
        </p:spPr>
        <p:txBody>
          <a:bodyPr>
            <a:normAutofit/>
          </a:bodyPr>
          <a:lstStyle/>
          <a:p>
            <a:r>
              <a:rPr lang="en-US" sz="5200" dirty="0">
                <a:solidFill>
                  <a:srgbClr val="FFFFFF"/>
                </a:solidFill>
              </a:rPr>
              <a:t> </a:t>
            </a:r>
            <a:r>
              <a:rPr lang="en-US" sz="5200" b="1" dirty="0">
                <a:solidFill>
                  <a:srgbClr val="FFFFFF"/>
                </a:solidFill>
              </a:rPr>
              <a:t>FIFA Player Performance Analysis</a:t>
            </a:r>
            <a:br>
              <a:rPr lang="en-US" sz="5200" b="1" dirty="0">
                <a:solidFill>
                  <a:srgbClr val="FFFFFF"/>
                </a:solidFill>
              </a:rPr>
            </a:br>
            <a:endParaRPr lang="en-GB" sz="5200" b="1" dirty="0">
              <a:solidFill>
                <a:srgbClr val="FFFFFF"/>
              </a:solidFill>
            </a:endParaRPr>
          </a:p>
        </p:txBody>
      </p:sp>
      <p:sp>
        <p:nvSpPr>
          <p:cNvPr id="3" name="Subtitle 2">
            <a:extLst>
              <a:ext uri="{FF2B5EF4-FFF2-40B4-BE49-F238E27FC236}">
                <a16:creationId xmlns:a16="http://schemas.microsoft.com/office/drawing/2014/main" id="{25A36D21-585F-ADCA-0BBD-E32B8AC4319E}"/>
              </a:ext>
            </a:extLst>
          </p:cNvPr>
          <p:cNvSpPr>
            <a:spLocks noGrp="1"/>
          </p:cNvSpPr>
          <p:nvPr>
            <p:ph type="subTitle" idx="1"/>
          </p:nvPr>
        </p:nvSpPr>
        <p:spPr>
          <a:xfrm>
            <a:off x="838200" y="4072040"/>
            <a:ext cx="10515600" cy="1384310"/>
          </a:xfrm>
        </p:spPr>
        <p:txBody>
          <a:bodyPr>
            <a:normAutofit/>
          </a:bodyPr>
          <a:lstStyle/>
          <a:p>
            <a:r>
              <a:rPr lang="en-GB" dirty="0">
                <a:solidFill>
                  <a:srgbClr val="FFFFFF"/>
                </a:solidFill>
              </a:rPr>
              <a:t> BeTechified  September Cohort By Margaret Nosa Okungbowa</a:t>
            </a:r>
          </a:p>
          <a:p>
            <a:r>
              <a:rPr lang="en-GB" dirty="0">
                <a:solidFill>
                  <a:srgbClr val="FFFFFF"/>
                </a:solidFill>
              </a:rPr>
              <a:t> </a:t>
            </a:r>
            <a:r>
              <a:rPr lang="en-GB" b="1" dirty="0">
                <a:solidFill>
                  <a:srgbClr val="FFFFFF"/>
                </a:solidFill>
              </a:rPr>
              <a:t>Tool Used:</a:t>
            </a:r>
            <a:r>
              <a:rPr lang="en-GB" dirty="0">
                <a:solidFill>
                  <a:srgbClr val="FFFFFF"/>
                </a:solidFill>
              </a:rPr>
              <a:t> Tableau Desktop, Excel </a:t>
            </a:r>
          </a:p>
        </p:txBody>
      </p:sp>
    </p:spTree>
    <p:extLst>
      <p:ext uri="{BB962C8B-B14F-4D97-AF65-F5344CB8AC3E}">
        <p14:creationId xmlns:p14="http://schemas.microsoft.com/office/powerpoint/2010/main" val="3166906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TextBox 2">
            <a:extLst>
              <a:ext uri="{FF2B5EF4-FFF2-40B4-BE49-F238E27FC236}">
                <a16:creationId xmlns:a16="http://schemas.microsoft.com/office/drawing/2014/main" id="{01058514-9FF0-ADE3-A1CC-9B9AAABBF04F}"/>
              </a:ext>
            </a:extLst>
          </p:cNvPr>
          <p:cNvGraphicFramePr/>
          <p:nvPr>
            <p:extLst>
              <p:ext uri="{D42A27DB-BD31-4B8C-83A1-F6EECF244321}">
                <p14:modId xmlns:p14="http://schemas.microsoft.com/office/powerpoint/2010/main" val="317459947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8524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25BFE17-B150-5E21-E779-751AC2E14EC8}"/>
              </a:ext>
            </a:extLst>
          </p:cNvPr>
          <p:cNvSpPr>
            <a:spLocks noChangeArrowheads="1"/>
          </p:cNvSpPr>
          <p:nvPr/>
        </p:nvSpPr>
        <p:spPr bwMode="auto">
          <a:xfrm>
            <a:off x="1371599" y="2318197"/>
            <a:ext cx="9724031" cy="368335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lvl="0" fontAlgn="base">
              <a:lnSpc>
                <a:spcPct val="90000"/>
              </a:lnSpc>
              <a:spcBef>
                <a:spcPct val="0"/>
              </a:spcBef>
              <a:spcAft>
                <a:spcPts val="600"/>
              </a:spcAft>
            </a:pPr>
            <a:r>
              <a:rPr lang="en-US" sz="2000" b="1" dirty="0"/>
              <a:t>Project Objectives</a:t>
            </a:r>
            <a:endParaRPr kumimoji="0" lang="en-US" altLang="en-US" sz="2000" b="1" i="0" u="none" strike="noStrike" cap="none" normalizeH="0" baseline="0" dirty="0">
              <a:ln>
                <a:noFill/>
              </a:ln>
              <a:effectLst/>
            </a:endParaRPr>
          </a:p>
          <a:p>
            <a:pPr marL="28575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Identify top-performing players and clubs</a:t>
            </a:r>
          </a:p>
          <a:p>
            <a:pPr marL="28575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Analyze performance by nationality and position</a:t>
            </a:r>
          </a:p>
          <a:p>
            <a:pPr marL="28575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Understand factors influencing player market value</a:t>
            </a:r>
          </a:p>
          <a:p>
            <a:pPr marL="28575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Evaluate player value for money</a:t>
            </a:r>
          </a:p>
          <a:p>
            <a:pPr marL="285750" marR="0" lvl="0" indent="-228600" fontAlgn="base">
              <a:lnSpc>
                <a:spcPct val="90000"/>
              </a:lnSpc>
              <a:spcBef>
                <a:spcPct val="0"/>
              </a:spcBef>
              <a:spcAft>
                <a:spcPts val="600"/>
              </a:spcAft>
              <a:buClrTx/>
              <a:buSzTx/>
              <a:buFont typeface="Arial" panose="020B0604020202020204" pitchFamily="34" charset="0"/>
              <a:buChar char="•"/>
              <a:tabLst/>
            </a:pPr>
            <a:r>
              <a:rPr kumimoji="0" lang="en-US" altLang="en-US" sz="2000" b="0" i="0" u="none" strike="noStrike" cap="none" normalizeH="0" baseline="0" dirty="0">
                <a:ln>
                  <a:noFill/>
                </a:ln>
                <a:effectLst/>
              </a:rPr>
              <a:t>Discover trends by age, footedness, and position</a:t>
            </a:r>
          </a:p>
        </p:txBody>
      </p:sp>
    </p:spTree>
    <p:extLst>
      <p:ext uri="{BB962C8B-B14F-4D97-AF65-F5344CB8AC3E}">
        <p14:creationId xmlns:p14="http://schemas.microsoft.com/office/powerpoint/2010/main" val="575567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611BC34-2C5E-E69B-3408-C8A702B91FEA}"/>
              </a:ext>
            </a:extLst>
          </p:cNvPr>
          <p:cNvPicPr>
            <a:picLocks noChangeAspect="1"/>
          </p:cNvPicPr>
          <p:nvPr/>
        </p:nvPicPr>
        <p:blipFill>
          <a:blip r:embed="rId3"/>
          <a:stretch>
            <a:fillRect/>
          </a:stretch>
        </p:blipFill>
        <p:spPr>
          <a:xfrm>
            <a:off x="108701" y="839244"/>
            <a:ext cx="10388109" cy="4471792"/>
          </a:xfrm>
          <a:prstGeom prst="rect">
            <a:avLst/>
          </a:prstGeom>
        </p:spPr>
      </p:pic>
      <p:sp>
        <p:nvSpPr>
          <p:cNvPr id="7" name="TextBox 6">
            <a:extLst>
              <a:ext uri="{FF2B5EF4-FFF2-40B4-BE49-F238E27FC236}">
                <a16:creationId xmlns:a16="http://schemas.microsoft.com/office/drawing/2014/main" id="{3ACA0B43-EFF6-C92E-A348-E9A3B057A1D1}"/>
              </a:ext>
            </a:extLst>
          </p:cNvPr>
          <p:cNvSpPr txBox="1"/>
          <p:nvPr/>
        </p:nvSpPr>
        <p:spPr>
          <a:xfrm>
            <a:off x="108702" y="187890"/>
            <a:ext cx="12083297" cy="523220"/>
          </a:xfrm>
          <a:prstGeom prst="rect">
            <a:avLst/>
          </a:prstGeom>
          <a:noFill/>
        </p:spPr>
        <p:txBody>
          <a:bodyPr wrap="square">
            <a:spAutoFit/>
          </a:bodyPr>
          <a:lstStyle/>
          <a:p>
            <a:pPr algn="ctr"/>
            <a:r>
              <a:rPr lang="en-US" sz="2800" b="1">
                <a:solidFill>
                  <a:srgbClr val="000000"/>
                </a:solidFill>
                <a:latin typeface="+mj-lt"/>
              </a:rPr>
              <a:t>KBQ 1:    </a:t>
            </a:r>
            <a:r>
              <a:rPr lang="en-US" sz="2800" b="1" i="0" u="none" strike="noStrike">
                <a:solidFill>
                  <a:srgbClr val="000000"/>
                </a:solidFill>
                <a:effectLst/>
                <a:latin typeface="+mj-lt"/>
              </a:rPr>
              <a:t>players and clubs have the highest overall and potential ratings</a:t>
            </a:r>
            <a:endParaRPr lang="en-GB" sz="2800" b="1" dirty="0">
              <a:latin typeface="+mj-lt"/>
            </a:endParaRPr>
          </a:p>
        </p:txBody>
      </p:sp>
      <p:sp>
        <p:nvSpPr>
          <p:cNvPr id="11" name="TextBox 10">
            <a:extLst>
              <a:ext uri="{FF2B5EF4-FFF2-40B4-BE49-F238E27FC236}">
                <a16:creationId xmlns:a16="http://schemas.microsoft.com/office/drawing/2014/main" id="{B82C2C14-EF2B-203A-F3C1-C974284F62D1}"/>
              </a:ext>
            </a:extLst>
          </p:cNvPr>
          <p:cNvSpPr txBox="1"/>
          <p:nvPr/>
        </p:nvSpPr>
        <p:spPr>
          <a:xfrm>
            <a:off x="453929" y="2526446"/>
            <a:ext cx="11678432" cy="3785652"/>
          </a:xfrm>
          <a:prstGeom prst="rect">
            <a:avLst/>
          </a:prstGeom>
          <a:noFill/>
        </p:spPr>
        <p:txBody>
          <a:bodyPr wrap="square">
            <a:spAutoFit/>
          </a:bodyPr>
          <a:lstStyle/>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Insight :</a:t>
            </a:r>
            <a:endParaRPr lang="en-US" sz="2000" dirty="0"/>
          </a:p>
          <a:p>
            <a:pPr>
              <a:buFont typeface="Arial" panose="020B0604020202020204" pitchFamily="34" charset="0"/>
              <a:buChar char="•"/>
            </a:pPr>
            <a:r>
              <a:rPr lang="en-US" sz="2000" dirty="0"/>
              <a:t>Messi , follow by Cristiano Ronaldo are  the  highest performing individual players across both metrics </a:t>
            </a:r>
          </a:p>
          <a:p>
            <a:pPr>
              <a:buFont typeface="Arial" panose="020B0604020202020204" pitchFamily="34" charset="0"/>
              <a:buChar char="•"/>
            </a:pPr>
            <a:r>
              <a:rPr lang="en-US" sz="2000" dirty="0"/>
              <a:t>Useful for scouting and Benchmarking</a:t>
            </a:r>
          </a:p>
        </p:txBody>
      </p:sp>
    </p:spTree>
    <p:extLst>
      <p:ext uri="{BB962C8B-B14F-4D97-AF65-F5344CB8AC3E}">
        <p14:creationId xmlns:p14="http://schemas.microsoft.com/office/powerpoint/2010/main" val="2583130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A9E3D6-B9D0-0EB8-A7DE-C704853270A3}"/>
              </a:ext>
            </a:extLst>
          </p:cNvPr>
          <p:cNvPicPr>
            <a:picLocks noChangeAspect="1"/>
          </p:cNvPicPr>
          <p:nvPr/>
        </p:nvPicPr>
        <p:blipFill>
          <a:blip r:embed="rId2"/>
          <a:stretch>
            <a:fillRect/>
          </a:stretch>
        </p:blipFill>
        <p:spPr>
          <a:xfrm>
            <a:off x="368490" y="806510"/>
            <a:ext cx="10549719" cy="4598004"/>
          </a:xfrm>
          <a:prstGeom prst="rect">
            <a:avLst/>
          </a:prstGeom>
        </p:spPr>
      </p:pic>
      <p:sp>
        <p:nvSpPr>
          <p:cNvPr id="7" name="TextBox 6">
            <a:extLst>
              <a:ext uri="{FF2B5EF4-FFF2-40B4-BE49-F238E27FC236}">
                <a16:creationId xmlns:a16="http://schemas.microsoft.com/office/drawing/2014/main" id="{DDEB62F6-FF08-ECA1-16E3-5BE78DD9903E}"/>
              </a:ext>
            </a:extLst>
          </p:cNvPr>
          <p:cNvSpPr txBox="1"/>
          <p:nvPr/>
        </p:nvSpPr>
        <p:spPr>
          <a:xfrm>
            <a:off x="245661" y="-1296538"/>
            <a:ext cx="12637826" cy="2062103"/>
          </a:xfrm>
          <a:prstGeom prst="rect">
            <a:avLst/>
          </a:prstGeom>
          <a:noFill/>
        </p:spPr>
        <p:txBody>
          <a:bodyPr wrap="square">
            <a:spAutoFit/>
          </a:bodyPr>
          <a:lstStyle/>
          <a:p>
            <a:endParaRPr lang="en-US" sz="2000" i="0" u="none" strike="noStrike">
              <a:solidFill>
                <a:srgbClr val="000000"/>
              </a:solidFill>
              <a:effectLst/>
              <a:latin typeface="+mj-lt"/>
            </a:endParaRPr>
          </a:p>
          <a:p>
            <a:endParaRPr lang="en-US" sz="2000">
              <a:solidFill>
                <a:srgbClr val="000000"/>
              </a:solidFill>
              <a:latin typeface="+mj-lt"/>
            </a:endParaRPr>
          </a:p>
          <a:p>
            <a:endParaRPr lang="en-US" sz="2000">
              <a:solidFill>
                <a:srgbClr val="000000"/>
              </a:solidFill>
              <a:latin typeface="+mj-lt"/>
            </a:endParaRPr>
          </a:p>
          <a:p>
            <a:endParaRPr lang="en-US" sz="2000">
              <a:solidFill>
                <a:srgbClr val="000000"/>
              </a:solidFill>
              <a:latin typeface="+mj-lt"/>
            </a:endParaRPr>
          </a:p>
          <a:p>
            <a:endParaRPr lang="en-US" sz="2000">
              <a:solidFill>
                <a:srgbClr val="000000"/>
              </a:solidFill>
              <a:latin typeface="+mj-lt"/>
            </a:endParaRPr>
          </a:p>
          <a:p>
            <a:pPr algn="just"/>
            <a:r>
              <a:rPr lang="en-US" sz="2800" b="1">
                <a:latin typeface="+mj-lt"/>
              </a:rPr>
              <a:t>KBQ2:Performance metrics variance  across positions and nationalities</a:t>
            </a:r>
            <a:endParaRPr lang="en-GB" sz="2800" b="1" dirty="0">
              <a:latin typeface="+mj-lt"/>
            </a:endParaRPr>
          </a:p>
        </p:txBody>
      </p:sp>
      <p:sp>
        <p:nvSpPr>
          <p:cNvPr id="8" name="Rectangle 1">
            <a:extLst>
              <a:ext uri="{FF2B5EF4-FFF2-40B4-BE49-F238E27FC236}">
                <a16:creationId xmlns:a16="http://schemas.microsoft.com/office/drawing/2014/main" id="{D1EA5B68-401B-A9F3-1108-DE284FE827C0}"/>
              </a:ext>
            </a:extLst>
          </p:cNvPr>
          <p:cNvSpPr>
            <a:spLocks noChangeArrowheads="1"/>
          </p:cNvSpPr>
          <p:nvPr/>
        </p:nvSpPr>
        <p:spPr bwMode="auto">
          <a:xfrm>
            <a:off x="368490" y="4424397"/>
            <a:ext cx="1054971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a:latin typeface="Arial" panose="020B0604020202020204" pitchFamily="34" charset="0"/>
              </a:rPr>
              <a:t>Insight: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rPr>
              <a:t>Performance varies widely by nationality across different positions. Clubs should scout based on the specific role they need to fill rather than relying only on overall player ratings.</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2629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9C34481-0B1D-0622-12F2-4548453440AA}"/>
              </a:ext>
            </a:extLst>
          </p:cNvPr>
          <p:cNvPicPr>
            <a:picLocks noChangeAspect="1"/>
          </p:cNvPicPr>
          <p:nvPr/>
        </p:nvPicPr>
        <p:blipFill>
          <a:blip r:embed="rId2"/>
          <a:stretch>
            <a:fillRect/>
          </a:stretch>
        </p:blipFill>
        <p:spPr>
          <a:xfrm>
            <a:off x="318654" y="1177636"/>
            <a:ext cx="11873345" cy="4093428"/>
          </a:xfrm>
          <a:prstGeom prst="rect">
            <a:avLst/>
          </a:prstGeom>
        </p:spPr>
      </p:pic>
      <p:sp>
        <p:nvSpPr>
          <p:cNvPr id="7" name="TextBox 6">
            <a:extLst>
              <a:ext uri="{FF2B5EF4-FFF2-40B4-BE49-F238E27FC236}">
                <a16:creationId xmlns:a16="http://schemas.microsoft.com/office/drawing/2014/main" id="{CCAE431D-D61A-1C93-6DF4-62E76CA37D85}"/>
              </a:ext>
            </a:extLst>
          </p:cNvPr>
          <p:cNvSpPr txBox="1"/>
          <p:nvPr/>
        </p:nvSpPr>
        <p:spPr>
          <a:xfrm>
            <a:off x="1995055" y="-637309"/>
            <a:ext cx="8188036" cy="1569660"/>
          </a:xfrm>
          <a:prstGeom prst="rect">
            <a:avLst/>
          </a:prstGeom>
          <a:noFill/>
        </p:spPr>
        <p:txBody>
          <a:bodyPr wrap="square">
            <a:spAutoFit/>
          </a:bodyPr>
          <a:lstStyle/>
          <a:p>
            <a:pPr algn="ctr"/>
            <a:endParaRPr lang="en-GB" sz="3200" b="1" dirty="0">
              <a:latin typeface="+mj-lt"/>
            </a:endParaRPr>
          </a:p>
          <a:p>
            <a:pPr algn="ctr"/>
            <a:endParaRPr lang="en-GB" sz="3200" b="1" dirty="0">
              <a:latin typeface="+mj-lt"/>
            </a:endParaRPr>
          </a:p>
          <a:p>
            <a:pPr algn="ctr"/>
            <a:r>
              <a:rPr lang="en-GB" sz="3200" b="1" dirty="0">
                <a:latin typeface="+mj-lt"/>
              </a:rPr>
              <a:t>KBQ 3: Attribute Influence on Market Value</a:t>
            </a:r>
          </a:p>
        </p:txBody>
      </p:sp>
      <p:sp>
        <p:nvSpPr>
          <p:cNvPr id="9" name="TextBox 8">
            <a:extLst>
              <a:ext uri="{FF2B5EF4-FFF2-40B4-BE49-F238E27FC236}">
                <a16:creationId xmlns:a16="http://schemas.microsoft.com/office/drawing/2014/main" id="{42A48317-57F5-F661-0815-61367575132A}"/>
              </a:ext>
            </a:extLst>
          </p:cNvPr>
          <p:cNvSpPr txBox="1"/>
          <p:nvPr/>
        </p:nvSpPr>
        <p:spPr>
          <a:xfrm>
            <a:off x="498764" y="2413199"/>
            <a:ext cx="9518072" cy="3785652"/>
          </a:xfrm>
          <a:prstGeom prst="rect">
            <a:avLst/>
          </a:prstGeom>
          <a:noFill/>
        </p:spPr>
        <p:txBody>
          <a:bodyPr wrap="square">
            <a:spAutoFit/>
          </a:bodyPr>
          <a:lstStyle/>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Insight:</a:t>
            </a:r>
            <a:endParaRPr lang="en-US" sz="2000" dirty="0"/>
          </a:p>
          <a:p>
            <a:pPr>
              <a:buFont typeface="Arial" panose="020B0604020202020204" pitchFamily="34" charset="0"/>
              <a:buChar char="•"/>
            </a:pPr>
            <a:r>
              <a:rPr lang="en-US" sz="2000" dirty="0"/>
              <a:t>Higher performance scores tend to attract higher wages and market valuations.</a:t>
            </a:r>
          </a:p>
          <a:p>
            <a:pPr>
              <a:buFont typeface="Arial" panose="020B0604020202020204" pitchFamily="34" charset="0"/>
              <a:buChar char="•"/>
            </a:pPr>
            <a:r>
              <a:rPr lang="en-US" sz="2000" dirty="0"/>
              <a:t>Clubs need to invest wisely, not emotionally.</a:t>
            </a:r>
          </a:p>
        </p:txBody>
      </p:sp>
    </p:spTree>
    <p:extLst>
      <p:ext uri="{BB962C8B-B14F-4D97-AF65-F5344CB8AC3E}">
        <p14:creationId xmlns:p14="http://schemas.microsoft.com/office/powerpoint/2010/main" val="2051683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C03960-8787-C855-AD58-2CEB60B86C6A}"/>
              </a:ext>
            </a:extLst>
          </p:cNvPr>
          <p:cNvPicPr>
            <a:picLocks noChangeAspect="1"/>
          </p:cNvPicPr>
          <p:nvPr/>
        </p:nvPicPr>
        <p:blipFill>
          <a:blip r:embed="rId2"/>
          <a:stretch>
            <a:fillRect/>
          </a:stretch>
        </p:blipFill>
        <p:spPr>
          <a:xfrm>
            <a:off x="0" y="584775"/>
            <a:ext cx="6455391" cy="5884263"/>
          </a:xfrm>
          <a:prstGeom prst="rect">
            <a:avLst/>
          </a:prstGeom>
        </p:spPr>
      </p:pic>
      <p:sp>
        <p:nvSpPr>
          <p:cNvPr id="5" name="TextBox 4">
            <a:extLst>
              <a:ext uri="{FF2B5EF4-FFF2-40B4-BE49-F238E27FC236}">
                <a16:creationId xmlns:a16="http://schemas.microsoft.com/office/drawing/2014/main" id="{1A3B2652-1EDC-9E85-A618-C1AB5A51A836}"/>
              </a:ext>
            </a:extLst>
          </p:cNvPr>
          <p:cNvSpPr txBox="1"/>
          <p:nvPr/>
        </p:nvSpPr>
        <p:spPr>
          <a:xfrm>
            <a:off x="1662544" y="0"/>
            <a:ext cx="7523020" cy="584775"/>
          </a:xfrm>
          <a:prstGeom prst="rect">
            <a:avLst/>
          </a:prstGeom>
          <a:noFill/>
        </p:spPr>
        <p:txBody>
          <a:bodyPr wrap="square">
            <a:spAutoFit/>
          </a:bodyPr>
          <a:lstStyle/>
          <a:p>
            <a:pPr algn="ctr"/>
            <a:r>
              <a:rPr lang="en-GB" sz="3200" b="1" dirty="0">
                <a:latin typeface="+mj-lt"/>
              </a:rPr>
              <a:t>KBQ 4:  Age vs</a:t>
            </a:r>
            <a:r>
              <a:rPr lang="en-GB" sz="3200" dirty="0">
                <a:latin typeface="+mj-lt"/>
              </a:rPr>
              <a:t> </a:t>
            </a:r>
            <a:r>
              <a:rPr lang="en-GB" sz="3200" b="1" dirty="0">
                <a:latin typeface="+mj-lt"/>
              </a:rPr>
              <a:t>Potential</a:t>
            </a:r>
          </a:p>
        </p:txBody>
      </p:sp>
      <p:sp>
        <p:nvSpPr>
          <p:cNvPr id="7" name="Rectangle 2">
            <a:extLst>
              <a:ext uri="{FF2B5EF4-FFF2-40B4-BE49-F238E27FC236}">
                <a16:creationId xmlns:a16="http://schemas.microsoft.com/office/drawing/2014/main" id="{BAA3BC8D-57F6-3D14-18A0-F3E289FF6233}"/>
              </a:ext>
            </a:extLst>
          </p:cNvPr>
          <p:cNvSpPr>
            <a:spLocks noChangeArrowheads="1"/>
          </p:cNvSpPr>
          <p:nvPr/>
        </p:nvSpPr>
        <p:spPr bwMode="auto">
          <a:xfrm>
            <a:off x="6755642" y="498146"/>
            <a:ext cx="5436358"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sz="2000" b="1" dirty="0">
                <a:latin typeface="Arial" panose="020B0604020202020204" pitchFamily="34" charset="0"/>
              </a:rPr>
              <a:t>Insight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Players between </a:t>
            </a:r>
            <a:r>
              <a:rPr kumimoji="0" lang="en-US" altLang="en-US" sz="1800" b="1" i="0" u="none" strike="noStrike" cap="none" normalizeH="0" baseline="0" dirty="0">
                <a:ln>
                  <a:noFill/>
                </a:ln>
                <a:solidFill>
                  <a:schemeClr val="tx1"/>
                </a:solidFill>
                <a:effectLst/>
                <a:latin typeface="Arial" panose="020B0604020202020204" pitchFamily="34" charset="0"/>
              </a:rPr>
              <a:t>20–35</a:t>
            </a:r>
            <a:r>
              <a:rPr kumimoji="0" lang="en-US" altLang="en-US" sz="1800" b="0" i="0" u="none" strike="noStrike" cap="none" normalizeH="0" baseline="0" dirty="0">
                <a:ln>
                  <a:noFill/>
                </a:ln>
                <a:solidFill>
                  <a:schemeClr val="tx1"/>
                </a:solidFill>
                <a:effectLst/>
                <a:latin typeface="Arial" panose="020B0604020202020204" pitchFamily="34" charset="0"/>
              </a:rPr>
              <a:t> earn more and have higher market value.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Younger teens (&lt;18–19) are not paid much.</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Players above ~35 begin to decline in pay/value.</a:t>
            </a:r>
          </a:p>
        </p:txBody>
      </p:sp>
    </p:spTree>
    <p:extLst>
      <p:ext uri="{BB962C8B-B14F-4D97-AF65-F5344CB8AC3E}">
        <p14:creationId xmlns:p14="http://schemas.microsoft.com/office/powerpoint/2010/main" val="31290936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2C6CB0-1A05-2A21-60C3-4FBBEB6E010E}"/>
              </a:ext>
            </a:extLst>
          </p:cNvPr>
          <p:cNvPicPr>
            <a:picLocks noChangeAspect="1"/>
          </p:cNvPicPr>
          <p:nvPr/>
        </p:nvPicPr>
        <p:blipFill>
          <a:blip r:embed="rId2"/>
          <a:stretch>
            <a:fillRect/>
          </a:stretch>
        </p:blipFill>
        <p:spPr>
          <a:xfrm>
            <a:off x="613597" y="846161"/>
            <a:ext cx="10964805" cy="4583368"/>
          </a:xfrm>
          <a:prstGeom prst="rect">
            <a:avLst/>
          </a:prstGeom>
        </p:spPr>
      </p:pic>
      <p:sp>
        <p:nvSpPr>
          <p:cNvPr id="5" name="TextBox 4">
            <a:extLst>
              <a:ext uri="{FF2B5EF4-FFF2-40B4-BE49-F238E27FC236}">
                <a16:creationId xmlns:a16="http://schemas.microsoft.com/office/drawing/2014/main" id="{4D3D8902-2F4B-21CA-67F5-8E472B12041A}"/>
              </a:ext>
            </a:extLst>
          </p:cNvPr>
          <p:cNvSpPr txBox="1"/>
          <p:nvPr/>
        </p:nvSpPr>
        <p:spPr>
          <a:xfrm>
            <a:off x="1414817" y="191068"/>
            <a:ext cx="9362364" cy="861774"/>
          </a:xfrm>
          <a:prstGeom prst="rect">
            <a:avLst/>
          </a:prstGeom>
          <a:noFill/>
        </p:spPr>
        <p:txBody>
          <a:bodyPr wrap="square">
            <a:spAutoFit/>
          </a:bodyPr>
          <a:lstStyle/>
          <a:p>
            <a:pPr algn="ctr">
              <a:buNone/>
            </a:pPr>
            <a:r>
              <a:rPr lang="en-GB" sz="3200" b="1" dirty="0">
                <a:latin typeface="+mj-lt"/>
              </a:rPr>
              <a:t>KBQ5 : Best Value-for-Money Players</a:t>
            </a:r>
          </a:p>
          <a:p>
            <a:pPr>
              <a:buNone/>
            </a:pPr>
            <a:endParaRPr lang="en-GB" dirty="0">
              <a:latin typeface="+mj-lt"/>
            </a:endParaRPr>
          </a:p>
        </p:txBody>
      </p:sp>
      <p:sp>
        <p:nvSpPr>
          <p:cNvPr id="6" name="Rectangle 1">
            <a:extLst>
              <a:ext uri="{FF2B5EF4-FFF2-40B4-BE49-F238E27FC236}">
                <a16:creationId xmlns:a16="http://schemas.microsoft.com/office/drawing/2014/main" id="{7DC50CFC-0EBC-45C4-0981-E94B54A5D4E7}"/>
              </a:ext>
            </a:extLst>
          </p:cNvPr>
          <p:cNvSpPr>
            <a:spLocks noChangeArrowheads="1"/>
          </p:cNvSpPr>
          <p:nvPr/>
        </p:nvSpPr>
        <p:spPr bwMode="auto">
          <a:xfrm>
            <a:off x="613597" y="4111651"/>
            <a:ext cx="11123478" cy="1969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4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High value does not always match high salary.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Clubs can optimize spending by scouting based on actual performance indicators rather than wage demands alone.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rPr>
              <a:t>Data-driven recruitment can help teams identify overlooked but highly capable players, improving squad quality without overspending.</a:t>
            </a:r>
          </a:p>
        </p:txBody>
      </p:sp>
    </p:spTree>
    <p:extLst>
      <p:ext uri="{BB962C8B-B14F-4D97-AF65-F5344CB8AC3E}">
        <p14:creationId xmlns:p14="http://schemas.microsoft.com/office/powerpoint/2010/main" val="3892351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A7B758-146F-68B1-9E15-F1EFD17B7B58}"/>
              </a:ext>
            </a:extLst>
          </p:cNvPr>
          <p:cNvSpPr txBox="1"/>
          <p:nvPr/>
        </p:nvSpPr>
        <p:spPr>
          <a:xfrm>
            <a:off x="532263" y="234014"/>
            <a:ext cx="8294426" cy="584775"/>
          </a:xfrm>
          <a:prstGeom prst="rect">
            <a:avLst/>
          </a:prstGeom>
          <a:noFill/>
        </p:spPr>
        <p:txBody>
          <a:bodyPr wrap="square">
            <a:spAutoFit/>
          </a:bodyPr>
          <a:lstStyle/>
          <a:p>
            <a:pPr algn="ctr"/>
            <a:r>
              <a:rPr lang="en-GB" sz="3200" b="1" dirty="0">
                <a:latin typeface="+mj-lt"/>
              </a:rPr>
              <a:t>KBQ6: Players Foot Analysis</a:t>
            </a:r>
          </a:p>
        </p:txBody>
      </p:sp>
      <p:sp>
        <p:nvSpPr>
          <p:cNvPr id="6" name="Rectangle 1">
            <a:extLst>
              <a:ext uri="{FF2B5EF4-FFF2-40B4-BE49-F238E27FC236}">
                <a16:creationId xmlns:a16="http://schemas.microsoft.com/office/drawing/2014/main" id="{B29C2EBD-180F-D3C6-5F89-2E403FE340BF}"/>
              </a:ext>
            </a:extLst>
          </p:cNvPr>
          <p:cNvSpPr>
            <a:spLocks noChangeArrowheads="1"/>
          </p:cNvSpPr>
          <p:nvPr/>
        </p:nvSpPr>
        <p:spPr bwMode="auto">
          <a:xfrm>
            <a:off x="2347415" y="2906131"/>
            <a:ext cx="9612573"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8" eaLnBrk="0" fontAlgn="base" hangingPunct="0">
              <a:spcBef>
                <a:spcPct val="0"/>
              </a:spcBef>
              <a:spcAft>
                <a:spcPct val="0"/>
              </a:spcAft>
            </a:pPr>
            <a:r>
              <a:rPr kumimoji="0" lang="en-US" altLang="en-US" b="1" i="0" u="none" strike="noStrike" cap="none" normalizeH="0" baseline="0" dirty="0">
                <a:ln>
                  <a:noFill/>
                </a:ln>
                <a:solidFill>
                  <a:schemeClr val="tx1"/>
                </a:solidFill>
                <a:effectLst/>
                <a:latin typeface="Arial" panose="020B0604020202020204" pitchFamily="34" charset="0"/>
              </a:rPr>
              <a:t>Insight:</a:t>
            </a:r>
          </a:p>
          <a:p>
            <a:pPr marL="3943350" lvl="8"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Aptos Display" panose="020B0004020202020204" pitchFamily="34" charset="0"/>
              </a:rPr>
              <a:t>Foot preference does not significantly influence player performance based on my analysis</a:t>
            </a:r>
          </a:p>
          <a:p>
            <a:pPr marL="3943350" lvl="8" indent="-285750" eaLnBrk="0" fontAlgn="base" hangingPunct="0">
              <a:spcBef>
                <a:spcPct val="0"/>
              </a:spcBef>
              <a:spcAft>
                <a:spcPct val="0"/>
              </a:spcAft>
              <a:buFont typeface="Arial" panose="020B0604020202020204" pitchFamily="34" charset="0"/>
              <a:buChar char="•"/>
            </a:pPr>
            <a:r>
              <a:rPr kumimoji="0" lang="en-US" altLang="en-US" i="0" u="none" strike="noStrike" cap="none" normalizeH="0" baseline="0" dirty="0">
                <a:ln>
                  <a:noFill/>
                </a:ln>
                <a:solidFill>
                  <a:schemeClr val="tx1"/>
                </a:solidFill>
                <a:effectLst/>
                <a:latin typeface="Aptos Display" panose="020B0004020202020204" pitchFamily="34" charset="0"/>
              </a:rPr>
              <a:t>Teams should not prioritize scouting based on  footedness alone, since both groups deliver nearly equal value. Other factors (such as position, technical attributes, and experience) are more important for evaluating performance</a:t>
            </a:r>
            <a:r>
              <a:rPr kumimoji="0" lang="en-US" altLang="en-US" b="0" i="0" u="none" strike="noStrike" cap="none" normalizeH="0" baseline="0" dirty="0">
                <a:ln>
                  <a:noFill/>
                </a:ln>
                <a:solidFill>
                  <a:schemeClr val="tx1"/>
                </a:solidFill>
                <a:effectLst/>
                <a:latin typeface="Aptos Display" panose="020B0004020202020204" pitchFamily="34" charset="0"/>
              </a:rPr>
              <a:t>.</a:t>
            </a:r>
          </a:p>
        </p:txBody>
      </p:sp>
      <p:pic>
        <p:nvPicPr>
          <p:cNvPr id="8" name="Picture 7">
            <a:extLst>
              <a:ext uri="{FF2B5EF4-FFF2-40B4-BE49-F238E27FC236}">
                <a16:creationId xmlns:a16="http://schemas.microsoft.com/office/drawing/2014/main" id="{F5BB5CA1-18C2-D7D1-33D2-460092021CE3}"/>
              </a:ext>
            </a:extLst>
          </p:cNvPr>
          <p:cNvPicPr>
            <a:picLocks noChangeAspect="1"/>
          </p:cNvPicPr>
          <p:nvPr/>
        </p:nvPicPr>
        <p:blipFill>
          <a:blip r:embed="rId2"/>
          <a:stretch>
            <a:fillRect/>
          </a:stretch>
        </p:blipFill>
        <p:spPr>
          <a:xfrm>
            <a:off x="232011" y="671120"/>
            <a:ext cx="5863989" cy="5768200"/>
          </a:xfrm>
          <a:prstGeom prst="rect">
            <a:avLst/>
          </a:prstGeom>
        </p:spPr>
      </p:pic>
    </p:spTree>
    <p:extLst>
      <p:ext uri="{BB962C8B-B14F-4D97-AF65-F5344CB8AC3E}">
        <p14:creationId xmlns:p14="http://schemas.microsoft.com/office/powerpoint/2010/main" val="7873858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79E27D9-03C7-44E2-9FF8-15D0C8506A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DEB831C-4F6C-553C-4CE2-B4D0593E9E69}"/>
              </a:ext>
            </a:extLst>
          </p:cNvPr>
          <p:cNvSpPr txBox="1"/>
          <p:nvPr/>
        </p:nvSpPr>
        <p:spPr>
          <a:xfrm>
            <a:off x="1136397" y="502021"/>
            <a:ext cx="4959603" cy="164296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000" b="1" kern="1200" dirty="0">
                <a:solidFill>
                  <a:schemeClr val="tx1"/>
                </a:solidFill>
                <a:latin typeface="+mj-lt"/>
                <a:ea typeface="+mj-ea"/>
                <a:cs typeface="+mj-cs"/>
              </a:rPr>
              <a:t>KBQ7: N</a:t>
            </a:r>
            <a:r>
              <a:rPr lang="en-US" sz="4000" b="1" i="0" u="none" strike="noStrike" kern="1200" dirty="0">
                <a:solidFill>
                  <a:schemeClr val="tx1"/>
                </a:solidFill>
                <a:effectLst/>
                <a:latin typeface="+mj-lt"/>
                <a:ea typeface="+mj-ea"/>
                <a:cs typeface="+mj-cs"/>
              </a:rPr>
              <a:t>ationalities Dominant skills </a:t>
            </a:r>
            <a:endParaRPr lang="en-US" sz="4000" b="1" kern="1200" dirty="0">
              <a:solidFill>
                <a:schemeClr val="tx1"/>
              </a:solidFill>
              <a:latin typeface="+mj-lt"/>
              <a:ea typeface="+mj-ea"/>
              <a:cs typeface="+mj-cs"/>
            </a:endParaRPr>
          </a:p>
        </p:txBody>
      </p:sp>
      <p:sp>
        <p:nvSpPr>
          <p:cNvPr id="10" name="Rectangle 1">
            <a:extLst>
              <a:ext uri="{FF2B5EF4-FFF2-40B4-BE49-F238E27FC236}">
                <a16:creationId xmlns:a16="http://schemas.microsoft.com/office/drawing/2014/main" id="{7EEBF9CA-4435-4AF2-713F-E35E349A8008}"/>
              </a:ext>
            </a:extLst>
          </p:cNvPr>
          <p:cNvSpPr>
            <a:spLocks noChangeArrowheads="1"/>
          </p:cNvSpPr>
          <p:nvPr/>
        </p:nvSpPr>
        <p:spPr bwMode="auto">
          <a:xfrm>
            <a:off x="1136397" y="2418408"/>
            <a:ext cx="4959603" cy="352256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2000" b="1" i="0" u="none" strike="noStrike" cap="none" normalizeH="0" baseline="0" dirty="0">
                <a:ln>
                  <a:noFill/>
                </a:ln>
                <a:effectLst/>
              </a:rPr>
              <a:t>Insight:</a:t>
            </a:r>
            <a:br>
              <a:rPr kumimoji="0" lang="en-US" altLang="en-US" sz="2000" b="0" i="0" u="none" strike="noStrike" cap="none" normalizeH="0" baseline="0" dirty="0">
                <a:ln>
                  <a:noFill/>
                </a:ln>
                <a:effectLst/>
              </a:rPr>
            </a:br>
            <a:r>
              <a:rPr kumimoji="0" lang="en-US" altLang="en-US" sz="2000" b="0" i="0" u="none" strike="noStrike" cap="none" normalizeH="0" baseline="0" dirty="0">
                <a:ln>
                  <a:noFill/>
                </a:ln>
                <a:effectLst/>
              </a:rPr>
              <a:t>Spain and Belgium show the strongest overall skill performance across both attack and defense, while most other nations perform average or strong in only one area.</a:t>
            </a:r>
          </a:p>
        </p:txBody>
      </p:sp>
      <p:pic>
        <p:nvPicPr>
          <p:cNvPr id="7" name="Picture 6">
            <a:extLst>
              <a:ext uri="{FF2B5EF4-FFF2-40B4-BE49-F238E27FC236}">
                <a16:creationId xmlns:a16="http://schemas.microsoft.com/office/drawing/2014/main" id="{599A6109-EDA6-86BD-B098-626E414EDE0A}"/>
              </a:ext>
            </a:extLst>
          </p:cNvPr>
          <p:cNvPicPr>
            <a:picLocks noChangeAspect="1"/>
          </p:cNvPicPr>
          <p:nvPr/>
        </p:nvPicPr>
        <p:blipFill>
          <a:blip r:embed="rId2"/>
          <a:stretch>
            <a:fillRect/>
          </a:stretch>
        </p:blipFill>
        <p:spPr>
          <a:xfrm>
            <a:off x="5827594" y="600501"/>
            <a:ext cx="6182436" cy="5340476"/>
          </a:xfrm>
          <a:prstGeom prst="rect">
            <a:avLst/>
          </a:prstGeom>
        </p:spPr>
      </p:pic>
      <p:sp>
        <p:nvSpPr>
          <p:cNvPr id="17" name="Rectangle 16">
            <a:extLst>
              <a:ext uri="{FF2B5EF4-FFF2-40B4-BE49-F238E27FC236}">
                <a16:creationId xmlns:a16="http://schemas.microsoft.com/office/drawing/2014/main" id="{EEBF1590-3B36-48EE-A89D-3B6F3CB256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C8F6C8C-AB5A-4548-942D-E3FD40ACBC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750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4779E0-DD7E-2768-EC50-8B2313190674}"/>
              </a:ext>
            </a:extLst>
          </p:cNvPr>
          <p:cNvPicPr>
            <a:picLocks noChangeAspect="1"/>
          </p:cNvPicPr>
          <p:nvPr/>
        </p:nvPicPr>
        <p:blipFill>
          <a:blip r:embed="rId2"/>
          <a:stretch>
            <a:fillRect/>
          </a:stretch>
        </p:blipFill>
        <p:spPr>
          <a:xfrm>
            <a:off x="137786" y="839244"/>
            <a:ext cx="10070925" cy="5085567"/>
          </a:xfrm>
          <a:prstGeom prst="rect">
            <a:avLst/>
          </a:prstGeom>
        </p:spPr>
      </p:pic>
      <p:sp>
        <p:nvSpPr>
          <p:cNvPr id="5" name="TextBox 4">
            <a:extLst>
              <a:ext uri="{FF2B5EF4-FFF2-40B4-BE49-F238E27FC236}">
                <a16:creationId xmlns:a16="http://schemas.microsoft.com/office/drawing/2014/main" id="{E8F6FAB9-F6C9-3918-9AC0-6C2FD973AA69}"/>
              </a:ext>
            </a:extLst>
          </p:cNvPr>
          <p:cNvSpPr txBox="1"/>
          <p:nvPr/>
        </p:nvSpPr>
        <p:spPr>
          <a:xfrm>
            <a:off x="1265129" y="0"/>
            <a:ext cx="7875739" cy="584775"/>
          </a:xfrm>
          <a:prstGeom prst="rect">
            <a:avLst/>
          </a:prstGeom>
          <a:noFill/>
        </p:spPr>
        <p:txBody>
          <a:bodyPr wrap="square">
            <a:spAutoFit/>
          </a:bodyPr>
          <a:lstStyle/>
          <a:p>
            <a:pPr algn="ctr"/>
            <a:r>
              <a:rPr lang="en-US" sz="3200" b="1" dirty="0"/>
              <a:t>KBQ 8:  Top Clubs by Squad Strength</a:t>
            </a:r>
            <a:endParaRPr lang="en-GB" sz="3200" b="1" dirty="0"/>
          </a:p>
        </p:txBody>
      </p:sp>
      <p:sp>
        <p:nvSpPr>
          <p:cNvPr id="7" name="TextBox 6">
            <a:extLst>
              <a:ext uri="{FF2B5EF4-FFF2-40B4-BE49-F238E27FC236}">
                <a16:creationId xmlns:a16="http://schemas.microsoft.com/office/drawing/2014/main" id="{2A8ADCBC-B6BA-2C98-00C8-4F725510EE5A}"/>
              </a:ext>
            </a:extLst>
          </p:cNvPr>
          <p:cNvSpPr txBox="1"/>
          <p:nvPr/>
        </p:nvSpPr>
        <p:spPr>
          <a:xfrm>
            <a:off x="137787" y="2594685"/>
            <a:ext cx="9003081" cy="4093428"/>
          </a:xfrm>
          <a:prstGeom prst="rect">
            <a:avLst/>
          </a:prstGeom>
          <a:noFill/>
        </p:spPr>
        <p:txBody>
          <a:bodyPr wrap="square">
            <a:spAutoFit/>
          </a:bodyPr>
          <a:lstStyle/>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endParaRPr lang="en-US" sz="2000" b="1" dirty="0"/>
          </a:p>
          <a:p>
            <a:pPr>
              <a:buNone/>
            </a:pPr>
            <a:r>
              <a:rPr lang="en-US" sz="2000" b="1" dirty="0"/>
              <a:t>Insight:</a:t>
            </a:r>
            <a:endParaRPr lang="en-US" sz="2000" dirty="0"/>
          </a:p>
          <a:p>
            <a:pPr>
              <a:buFont typeface="Arial" panose="020B0604020202020204" pitchFamily="34" charset="0"/>
              <a:buChar char="•"/>
            </a:pPr>
            <a:r>
              <a:rPr lang="en-US" sz="2000" dirty="0"/>
              <a:t>Juventus is the strongest squad teams.</a:t>
            </a:r>
          </a:p>
          <a:p>
            <a:pPr>
              <a:buFont typeface="Arial" panose="020B0604020202020204" pitchFamily="34" charset="0"/>
              <a:buChar char="•"/>
            </a:pPr>
            <a:r>
              <a:rPr lang="en-US" sz="2000" dirty="0"/>
              <a:t>Supports club-level benchmarking.</a:t>
            </a:r>
          </a:p>
        </p:txBody>
      </p:sp>
    </p:spTree>
    <p:extLst>
      <p:ext uri="{BB962C8B-B14F-4D97-AF65-F5344CB8AC3E}">
        <p14:creationId xmlns:p14="http://schemas.microsoft.com/office/powerpoint/2010/main" val="2999320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58DC3-CDD4-2434-80F5-BE2BC8511807}"/>
              </a:ext>
            </a:extLst>
          </p:cNvPr>
          <p:cNvPicPr>
            <a:picLocks noChangeAspect="1"/>
          </p:cNvPicPr>
          <p:nvPr/>
        </p:nvPicPr>
        <p:blipFill>
          <a:blip r:embed="rId2"/>
          <a:stretch>
            <a:fillRect/>
          </a:stretch>
        </p:blipFill>
        <p:spPr>
          <a:xfrm>
            <a:off x="-1" y="418680"/>
            <a:ext cx="12067309" cy="6020640"/>
          </a:xfrm>
          <a:prstGeom prst="rect">
            <a:avLst/>
          </a:prstGeom>
        </p:spPr>
      </p:pic>
    </p:spTree>
    <p:extLst>
      <p:ext uri="{BB962C8B-B14F-4D97-AF65-F5344CB8AC3E}">
        <p14:creationId xmlns:p14="http://schemas.microsoft.com/office/powerpoint/2010/main" val="2876444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09D6FE35-54AE-138C-1D42-F2B603811F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457200"/>
            <a:ext cx="7619999" cy="5943600"/>
          </a:xfrm>
          <a:prstGeom prst="rect">
            <a:avLst/>
          </a:prstGeom>
        </p:spPr>
      </p:pic>
    </p:spTree>
    <p:extLst>
      <p:ext uri="{BB962C8B-B14F-4D97-AF65-F5344CB8AC3E}">
        <p14:creationId xmlns:p14="http://schemas.microsoft.com/office/powerpoint/2010/main" val="3096737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 screen&#10;&#10;AI-generated content may be incorrect.">
            <a:extLst>
              <a:ext uri="{FF2B5EF4-FFF2-40B4-BE49-F238E27FC236}">
                <a16:creationId xmlns:a16="http://schemas.microsoft.com/office/drawing/2014/main" id="{EEC1E976-AFA4-270A-7209-619D0578480C}"/>
              </a:ext>
            </a:extLst>
          </p:cNvPr>
          <p:cNvPicPr>
            <a:picLocks noChangeAspect="1"/>
          </p:cNvPicPr>
          <p:nvPr/>
        </p:nvPicPr>
        <p:blipFill>
          <a:blip r:embed="rId3">
            <a:extLst>
              <a:ext uri="{28A0092B-C50C-407E-A947-70E740481C1C}">
                <a14:useLocalDpi xmlns:a14="http://schemas.microsoft.com/office/drawing/2010/main" val="0"/>
              </a:ext>
            </a:extLst>
          </a:blip>
          <a:srcRect b="27307"/>
          <a:stretch>
            <a:fillRect/>
          </a:stretch>
        </p:blipFill>
        <p:spPr>
          <a:xfrm>
            <a:off x="457200" y="457200"/>
            <a:ext cx="11277600" cy="5943600"/>
          </a:xfrm>
          <a:prstGeom prst="rect">
            <a:avLst/>
          </a:prstGeom>
        </p:spPr>
      </p:pic>
    </p:spTree>
    <p:extLst>
      <p:ext uri="{BB962C8B-B14F-4D97-AF65-F5344CB8AC3E}">
        <p14:creationId xmlns:p14="http://schemas.microsoft.com/office/powerpoint/2010/main" val="1889957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Foosball soccer players">
            <a:extLst>
              <a:ext uri="{FF2B5EF4-FFF2-40B4-BE49-F238E27FC236}">
                <a16:creationId xmlns:a16="http://schemas.microsoft.com/office/drawing/2014/main" id="{3397E384-FF86-47D7-6DD0-9435E920C3DD}"/>
              </a:ext>
            </a:extLst>
          </p:cNvPr>
          <p:cNvPicPr>
            <a:picLocks noChangeAspect="1"/>
          </p:cNvPicPr>
          <p:nvPr/>
        </p:nvPicPr>
        <p:blipFill>
          <a:blip r:embed="rId2"/>
          <a:srcRect l="17289" r="11050"/>
          <a:stretch>
            <a:fillRect/>
          </a:stretch>
        </p:blipFill>
        <p:spPr>
          <a:xfrm>
            <a:off x="21" y="10"/>
            <a:ext cx="3916886" cy="6857990"/>
          </a:xfrm>
          <a:prstGeom prst="rect">
            <a:avLst/>
          </a:prstGeom>
        </p:spPr>
      </p:pic>
      <p:sp>
        <p:nvSpPr>
          <p:cNvPr id="9" name="Rectangle 8">
            <a:extLst>
              <a:ext uri="{FF2B5EF4-FFF2-40B4-BE49-F238E27FC236}">
                <a16:creationId xmlns:a16="http://schemas.microsoft.com/office/drawing/2014/main" id="{AE3A741D-C19B-960A-5803-1C58871478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879677" y="2347416"/>
            <a:ext cx="1630908" cy="7390262"/>
          </a:xfrm>
          <a:prstGeom prst="rect">
            <a:avLst/>
          </a:prstGeom>
          <a:gradFill>
            <a:gsLst>
              <a:gs pos="0">
                <a:schemeClr val="accent5"/>
              </a:gs>
              <a:gs pos="47000">
                <a:schemeClr val="accent2">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C39DE25-0E4E-0AA7-0932-1D78C2372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flipV="1">
            <a:off x="-1919061" y="1919060"/>
            <a:ext cx="6854280" cy="3016159"/>
          </a:xfrm>
          <a:prstGeom prst="rect">
            <a:avLst/>
          </a:prstGeom>
          <a:gradFill flip="none" rotWithShape="1">
            <a:gsLst>
              <a:gs pos="0">
                <a:schemeClr val="accent5"/>
              </a:gs>
              <a:gs pos="47000">
                <a:schemeClr val="accent2">
                  <a:alpha val="0"/>
                </a:schemeClr>
              </a:gs>
            </a:gsLst>
            <a:lin ang="4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13" name="Rectangle 12">
            <a:extLst>
              <a:ext uri="{FF2B5EF4-FFF2-40B4-BE49-F238E27FC236}">
                <a16:creationId xmlns:a16="http://schemas.microsoft.com/office/drawing/2014/main" id="{8D6EA299-0840-6DEA-E670-C49AEBC87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4461657" y="4425055"/>
            <a:ext cx="2928605" cy="2432945"/>
          </a:xfrm>
          <a:prstGeom prst="rect">
            <a:avLst/>
          </a:prstGeom>
          <a:gradFill flip="none" rotWithShape="1">
            <a:gsLst>
              <a:gs pos="0">
                <a:schemeClr val="accent2"/>
              </a:gs>
              <a:gs pos="51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3" name="TextBox 2">
            <a:extLst>
              <a:ext uri="{FF2B5EF4-FFF2-40B4-BE49-F238E27FC236}">
                <a16:creationId xmlns:a16="http://schemas.microsoft.com/office/drawing/2014/main" id="{11F2C540-D397-8741-FDE2-666ED04005F4}"/>
              </a:ext>
            </a:extLst>
          </p:cNvPr>
          <p:cNvSpPr txBox="1"/>
          <p:nvPr/>
        </p:nvSpPr>
        <p:spPr>
          <a:xfrm>
            <a:off x="4053386" y="1201003"/>
            <a:ext cx="8243248" cy="4780305"/>
          </a:xfrm>
          <a:prstGeom prst="rect">
            <a:avLst/>
          </a:prstGeom>
        </p:spPr>
        <p:txBody>
          <a:bodyPr vert="horz" lIns="91440" tIns="45720" rIns="91440" bIns="45720" rtlCol="0" anchor="t">
            <a:normAutofit/>
          </a:bodyPr>
          <a:lstStyle/>
          <a:p>
            <a:pPr>
              <a:lnSpc>
                <a:spcPct val="90000"/>
              </a:lnSpc>
              <a:spcAft>
                <a:spcPts val="600"/>
              </a:spcAft>
            </a:pPr>
            <a:r>
              <a:rPr lang="en-US" sz="3200" b="1" dirty="0">
                <a:latin typeface="+mj-lt"/>
              </a:rPr>
              <a:t>Findings </a:t>
            </a:r>
          </a:p>
          <a:p>
            <a:pPr>
              <a:lnSpc>
                <a:spcPct val="90000"/>
              </a:lnSpc>
              <a:spcAft>
                <a:spcPts val="600"/>
              </a:spcAft>
            </a:pPr>
            <a:r>
              <a:rPr lang="en-US" sz="2000" dirty="0"/>
              <a:t>• Player performance and value are shaped by a combination of interconnected factors. including age. position. nationality. club strength. and key attributes.</a:t>
            </a:r>
            <a:br>
              <a:rPr lang="en-US" sz="2000" dirty="0"/>
            </a:br>
            <a:r>
              <a:rPr lang="en-US" sz="2000" dirty="0"/>
              <a:t>• Younger players generally have higher potential. while some older players still deliver strong performance at lower wage cost.</a:t>
            </a:r>
            <a:br>
              <a:rPr lang="en-US" sz="2000" dirty="0"/>
            </a:br>
            <a:r>
              <a:rPr lang="en-US" sz="2000" dirty="0"/>
              <a:t>• Strong clubs tend to field higher-rated squads. but high wages do not always equal high performance.</a:t>
            </a:r>
            <a:br>
              <a:rPr lang="en-US" sz="2000" dirty="0"/>
            </a:br>
            <a:r>
              <a:rPr lang="en-US" sz="2000" dirty="0"/>
              <a:t>• Key attributes such as passing. dribbling. defending. and physical strength show strong links to player value.</a:t>
            </a:r>
            <a:br>
              <a:rPr lang="en-US" sz="2000" dirty="0"/>
            </a:br>
            <a:r>
              <a:rPr lang="en-US" sz="2000" dirty="0"/>
              <a:t>• Different nationalities and positions excel in different skill areas. creating patterns that clubs can use to guide scouting</a:t>
            </a:r>
            <a:r>
              <a:rPr lang="en-US" sz="1100" dirty="0"/>
              <a:t>.</a:t>
            </a:r>
          </a:p>
          <a:p>
            <a:pPr indent="-228600">
              <a:lnSpc>
                <a:spcPct val="90000"/>
              </a:lnSpc>
              <a:spcAft>
                <a:spcPts val="600"/>
              </a:spcAft>
              <a:buFont typeface="Arial" panose="020B0604020202020204" pitchFamily="34" charset="0"/>
              <a:buChar char="•"/>
            </a:pPr>
            <a:r>
              <a:rPr lang="en-US" sz="1100" dirty="0"/>
              <a:t>.</a:t>
            </a:r>
          </a:p>
        </p:txBody>
      </p:sp>
    </p:spTree>
    <p:extLst>
      <p:ext uri="{BB962C8B-B14F-4D97-AF65-F5344CB8AC3E}">
        <p14:creationId xmlns:p14="http://schemas.microsoft.com/office/powerpoint/2010/main" val="4276093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5330752-A470-4821-41B4-251BE935BC28}"/>
              </a:ext>
            </a:extLst>
          </p:cNvPr>
          <p:cNvPicPr>
            <a:picLocks noChangeAspect="1"/>
          </p:cNvPicPr>
          <p:nvPr/>
        </p:nvPicPr>
        <p:blipFill>
          <a:blip r:embed="rId2"/>
          <a:srcRect l="619" r="37270"/>
          <a:stretch>
            <a:fillRect/>
          </a:stretch>
        </p:blipFill>
        <p:spPr>
          <a:xfrm>
            <a:off x="-9886" y="10"/>
            <a:ext cx="4772955" cy="6857990"/>
          </a:xfrm>
          <a:prstGeom prst="rect">
            <a:avLst/>
          </a:prstGeom>
        </p:spPr>
      </p:pic>
      <p:cxnSp>
        <p:nvCxnSpPr>
          <p:cNvPr id="9" name="Straight Connector 8">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95D4CD8A-A899-0CF0-58FF-D5FD23C9BB17}"/>
              </a:ext>
            </a:extLst>
          </p:cNvPr>
          <p:cNvSpPr txBox="1"/>
          <p:nvPr/>
        </p:nvSpPr>
        <p:spPr>
          <a:xfrm>
            <a:off x="5854890" y="1624085"/>
            <a:ext cx="6337110" cy="4518299"/>
          </a:xfrm>
          <a:prstGeom prst="rect">
            <a:avLst/>
          </a:prstGeom>
        </p:spPr>
        <p:txBody>
          <a:bodyPr vert="horz" lIns="91440" tIns="45720" rIns="91440" bIns="45720" rtlCol="0">
            <a:normAutofit/>
          </a:bodyPr>
          <a:lstStyle/>
          <a:p>
            <a:pPr>
              <a:lnSpc>
                <a:spcPct val="90000"/>
              </a:lnSpc>
              <a:spcAft>
                <a:spcPts val="600"/>
              </a:spcAft>
            </a:pPr>
            <a:r>
              <a:rPr lang="en-US" sz="2400" b="1" dirty="0">
                <a:latin typeface="+mj-lt"/>
              </a:rPr>
              <a:t>Recommendations </a:t>
            </a:r>
          </a:p>
          <a:p>
            <a:pPr>
              <a:lnSpc>
                <a:spcPct val="90000"/>
              </a:lnSpc>
              <a:spcAft>
                <a:spcPts val="600"/>
              </a:spcAft>
            </a:pPr>
            <a:r>
              <a:rPr lang="en-US" dirty="0"/>
              <a:t>• Prioritize players with high potential and identify older low-wage players who still perform strongly.</a:t>
            </a:r>
            <a:br>
              <a:rPr lang="en-US" dirty="0"/>
            </a:br>
            <a:r>
              <a:rPr lang="en-US" dirty="0"/>
              <a:t>• Focus recruitment on players with the top attributes that drive performance for the position needed.</a:t>
            </a:r>
            <a:br>
              <a:rPr lang="en-US" dirty="0"/>
            </a:br>
            <a:r>
              <a:rPr lang="en-US" dirty="0"/>
              <a:t>• Optimize wage spending by targeting undervalued players rather than relying on wage as a quality signal.</a:t>
            </a:r>
            <a:br>
              <a:rPr lang="en-US" dirty="0"/>
            </a:br>
            <a:r>
              <a:rPr lang="en-US" dirty="0"/>
              <a:t>• Develop training plans that improve the attributes most linked to market value and on-pitch performance.</a:t>
            </a:r>
            <a:br>
              <a:rPr lang="en-US" dirty="0"/>
            </a:br>
            <a:r>
              <a:rPr lang="en-US" dirty="0"/>
              <a:t>• Strengthen scouting by tracking nationalities and positions that consistently produce high performers.</a:t>
            </a:r>
            <a:br>
              <a:rPr lang="en-US" dirty="0"/>
            </a:br>
            <a:r>
              <a:rPr lang="en-US" dirty="0"/>
              <a:t>• Use analytics to guide transfer decisions and build long-term player development strategy.</a:t>
            </a:r>
          </a:p>
        </p:txBody>
      </p:sp>
    </p:spTree>
    <p:extLst>
      <p:ext uri="{BB962C8B-B14F-4D97-AF65-F5344CB8AC3E}">
        <p14:creationId xmlns:p14="http://schemas.microsoft.com/office/powerpoint/2010/main" val="2082497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77D6B2E-37A3-429E-A37C-F30ED6487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723" y="-1"/>
            <a:ext cx="12225953" cy="6868071"/>
          </a:xfrm>
          <a:prstGeom prst="rect">
            <a:avLst/>
          </a:prstGeom>
          <a:gradFill>
            <a:gsLst>
              <a:gs pos="0">
                <a:srgbClr val="000000"/>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41959" y="-3"/>
            <a:ext cx="11772269" cy="6868074"/>
          </a:xfrm>
          <a:prstGeom prst="rect">
            <a:avLst/>
          </a:prstGeom>
          <a:gradFill>
            <a:gsLst>
              <a:gs pos="21000">
                <a:schemeClr val="accent1">
                  <a:lumMod val="50000"/>
                  <a:alpha val="83000"/>
                </a:schemeClr>
              </a:gs>
              <a:gs pos="100000">
                <a:schemeClr val="accent1">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5200" y="0"/>
            <a:ext cx="3623374" cy="6868072"/>
          </a:xfrm>
          <a:prstGeom prst="rect">
            <a:avLst/>
          </a:prstGeom>
          <a:gradFill>
            <a:gsLst>
              <a:gs pos="0">
                <a:schemeClr val="accent1">
                  <a:lumMod val="75000"/>
                  <a:alpha val="0"/>
                </a:schemeClr>
              </a:gs>
              <a:gs pos="99000">
                <a:srgbClr val="000000">
                  <a:alpha val="41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064D5D5-227B-4F66-9AEA-46F570E79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5875" y="-3"/>
            <a:ext cx="12233581" cy="6868076"/>
          </a:xfrm>
          <a:prstGeom prst="rect">
            <a:avLst/>
          </a:prstGeom>
          <a:gradFill>
            <a:gsLst>
              <a:gs pos="3000">
                <a:schemeClr val="accent1">
                  <a:lumMod val="75000"/>
                  <a:alpha val="0"/>
                </a:schemeClr>
              </a:gs>
              <a:gs pos="100000">
                <a:srgbClr val="000000">
                  <a:alpha val="73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646B67A4-D328-4747-A82B-65E84FA463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484334" y="-861824"/>
            <a:ext cx="6861931" cy="8597859"/>
          </a:xfrm>
          <a:prstGeom prst="rect">
            <a:avLst/>
          </a:prstGeom>
          <a:gradFill>
            <a:gsLst>
              <a:gs pos="3000">
                <a:schemeClr val="accent1">
                  <a:lumMod val="75000"/>
                  <a:alpha val="0"/>
                </a:schemeClr>
              </a:gs>
              <a:gs pos="100000">
                <a:srgbClr val="000000">
                  <a:alpha val="27000"/>
                </a:srgb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993193">
            <a:off x="1186972" y="1089049"/>
            <a:ext cx="4967533" cy="4988390"/>
          </a:xfrm>
          <a:prstGeom prst="ellipse">
            <a:avLst/>
          </a:prstGeom>
          <a:gradFill>
            <a:gsLst>
              <a:gs pos="0">
                <a:schemeClr val="accent1">
                  <a:alpha val="26000"/>
                </a:schemeClr>
              </a:gs>
              <a:gs pos="85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961621B9-C73E-1068-0E5B-3F84F2E10889}"/>
              </a:ext>
            </a:extLst>
          </p:cNvPr>
          <p:cNvSpPr txBox="1"/>
          <p:nvPr/>
        </p:nvSpPr>
        <p:spPr>
          <a:xfrm>
            <a:off x="4162567" y="818984"/>
            <a:ext cx="6714699" cy="317868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kern="1200">
                <a:solidFill>
                  <a:srgbClr val="FFFFFF"/>
                </a:solidFill>
                <a:latin typeface="+mj-lt"/>
                <a:ea typeface="+mj-ea"/>
                <a:cs typeface="+mj-cs"/>
              </a:rPr>
              <a:t>Any Questions ?</a:t>
            </a:r>
          </a:p>
        </p:txBody>
      </p:sp>
      <p:sp>
        <p:nvSpPr>
          <p:cNvPr id="22" name="Rectangle 21">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4490110"/>
            <a:ext cx="12217710" cy="2377962"/>
          </a:xfrm>
          <a:prstGeom prst="rect">
            <a:avLst/>
          </a:prstGeom>
          <a:gradFill>
            <a:gsLst>
              <a:gs pos="0">
                <a:schemeClr val="accent1">
                  <a:lumMod val="75000"/>
                  <a:alpha val="50000"/>
                </a:schemeClr>
              </a:gs>
              <a:gs pos="99000">
                <a:srgbClr val="000000">
                  <a:alpha val="34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933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664</Words>
  <Application>Microsoft Office PowerPoint</Application>
  <PresentationFormat>Widescreen</PresentationFormat>
  <Paragraphs>106</Paragraphs>
  <Slides>17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Aptos Display</vt:lpstr>
      <vt:lpstr>Arial</vt:lpstr>
      <vt:lpstr>Calibri</vt:lpstr>
      <vt:lpstr>Office Theme</vt:lpstr>
      <vt:lpstr> FIFA Player Performance Analysis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Margaret Okungbowa</dc:creator>
  <cp:lastModifiedBy>Margaret Okungbowa</cp:lastModifiedBy>
  <cp:revision>1</cp:revision>
  <dcterms:created xsi:type="dcterms:W3CDTF">2025-11-20T20:37:55Z</dcterms:created>
  <dcterms:modified xsi:type="dcterms:W3CDTF">2025-11-23T08:02:48Z</dcterms:modified>
</cp:coreProperties>
</file>